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037076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275332"/>
            <a:ext cx="12192000" cy="458266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24993"/>
            <a:ext cx="10358120" cy="1300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33086" y="2311374"/>
            <a:ext cx="6594475" cy="3218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image" Target="../media/image34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Relationship Id="rId3" Type="http://schemas.openxmlformats.org/officeDocument/2006/relationships/image" Target="../media/image17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83514" y="3606495"/>
            <a:ext cx="8656320" cy="179197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 marR="5080">
              <a:lnSpc>
                <a:spcPts val="6590"/>
              </a:lnSpc>
              <a:spcBef>
                <a:spcPts val="925"/>
              </a:spcBef>
            </a:pPr>
            <a:r>
              <a:rPr dirty="0" sz="6100" spc="-10">
                <a:solidFill>
                  <a:srgbClr val="FFFFFF"/>
                </a:solidFill>
                <a:latin typeface="Calibri"/>
                <a:cs typeface="Calibri"/>
              </a:rPr>
              <a:t>Grover's</a:t>
            </a:r>
            <a:r>
              <a:rPr dirty="0" sz="6100" spc="-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100">
                <a:solidFill>
                  <a:srgbClr val="FFFFFF"/>
                </a:solidFill>
                <a:latin typeface="Calibri"/>
                <a:cs typeface="Calibri"/>
              </a:rPr>
              <a:t>Algorithm</a:t>
            </a:r>
            <a:r>
              <a:rPr dirty="0" sz="6100" spc="-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1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6100" spc="-1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100" spc="-2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dirty="0" sz="6100">
                <a:solidFill>
                  <a:srgbClr val="FFFFFF"/>
                </a:solidFill>
                <a:latin typeface="Calibri"/>
                <a:cs typeface="Calibri"/>
              </a:rPr>
              <a:t>Lake</a:t>
            </a:r>
            <a:r>
              <a:rPr dirty="0" sz="6100" spc="-2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100" spc="-10">
                <a:solidFill>
                  <a:srgbClr val="FFFFFF"/>
                </a:solidFill>
                <a:latin typeface="Calibri"/>
                <a:cs typeface="Calibri"/>
              </a:rPr>
              <a:t>Optimization</a:t>
            </a:r>
            <a:r>
              <a:rPr dirty="0" sz="6100" spc="-2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100" spc="-10">
                <a:solidFill>
                  <a:srgbClr val="FFFFFF"/>
                </a:solidFill>
                <a:latin typeface="Calibri"/>
                <a:cs typeface="Calibri"/>
              </a:rPr>
              <a:t>Queries</a:t>
            </a:r>
            <a:endParaRPr sz="61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0" y="5574791"/>
            <a:ext cx="9785985" cy="685800"/>
          </a:xfrm>
          <a:prstGeom prst="rect">
            <a:avLst/>
          </a:prstGeom>
          <a:solidFill>
            <a:srgbClr val="EC7C30"/>
          </a:solidFill>
        </p:spPr>
        <p:txBody>
          <a:bodyPr wrap="square" lIns="0" tIns="74930" rIns="0" bIns="0" rtlCol="0" vert="horz">
            <a:spAutoFit/>
          </a:bodyPr>
          <a:lstStyle/>
          <a:p>
            <a:pPr marL="495934">
              <a:lnSpc>
                <a:spcPct val="100000"/>
              </a:lnSpc>
              <a:spcBef>
                <a:spcPts val="590"/>
              </a:spcBef>
            </a:pP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Sriram</a:t>
            </a:r>
            <a:r>
              <a:rPr dirty="0" sz="13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rampelli</a:t>
            </a:r>
            <a:endParaRPr sz="1300">
              <a:latin typeface="Calibri"/>
              <a:cs typeface="Calibri"/>
            </a:endParaRPr>
          </a:p>
          <a:p>
            <a:pPr marL="495934">
              <a:lnSpc>
                <a:spcPct val="100000"/>
              </a:lnSpc>
              <a:spcBef>
                <a:spcPts val="850"/>
              </a:spcBef>
            </a:pP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Dhananjay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sunil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bhugaonkar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8522335" cy="2736850"/>
            <a:chOff x="0" y="0"/>
            <a:chExt cx="8522335" cy="27368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354437" cy="273638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8522335" cy="2286000"/>
            </a:xfrm>
            <a:custGeom>
              <a:avLst/>
              <a:gdLst/>
              <a:ahLst/>
              <a:cxnLst/>
              <a:rect l="l" t="t" r="r" b="b"/>
              <a:pathLst>
                <a:path w="8522335" h="2286000">
                  <a:moveTo>
                    <a:pt x="8522208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8522208" y="2286000"/>
                  </a:lnTo>
                  <a:lnTo>
                    <a:pt x="85222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40739" y="782828"/>
            <a:ext cx="259270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>
                <a:latin typeface="Calibri"/>
                <a:cs typeface="Calibri"/>
              </a:rPr>
              <a:t>Introduction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40739" y="2650363"/>
            <a:ext cx="4473575" cy="3496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100" b="1">
                <a:latin typeface="Times New Roman"/>
                <a:cs typeface="Times New Roman"/>
              </a:rPr>
              <a:t>Data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Lakes: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Vast</a:t>
            </a:r>
            <a:r>
              <a:rPr dirty="0" sz="1100" spc="-10" b="1">
                <a:latin typeface="Times New Roman"/>
                <a:cs typeface="Times New Roman"/>
              </a:rPr>
              <a:t> Repositories</a:t>
            </a:r>
            <a:r>
              <a:rPr dirty="0" sz="1100" spc="-4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of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Raw,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Unstructured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Data</a:t>
            </a:r>
            <a:endParaRPr sz="11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119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100">
                <a:latin typeface="Times New Roman"/>
                <a:cs typeface="Times New Roman"/>
              </a:rPr>
              <a:t>Data lakes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large-</a:t>
            </a:r>
            <a:r>
              <a:rPr dirty="0" sz="1100">
                <a:latin typeface="Times New Roman"/>
                <a:cs typeface="Times New Roman"/>
              </a:rPr>
              <a:t>scale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repositories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raw,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unstructured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its</a:t>
            </a:r>
            <a:r>
              <a:rPr dirty="0" sz="1100" spc="-10">
                <a:latin typeface="Times New Roman"/>
                <a:cs typeface="Times New Roman"/>
              </a:rPr>
              <a:t> native format.</a:t>
            </a:r>
            <a:endParaRPr sz="1100">
              <a:latin typeface="Times New Roman"/>
              <a:cs typeface="Times New Roman"/>
            </a:endParaRPr>
          </a:p>
          <a:p>
            <a:pPr marL="241300" marR="238125" indent="-228600">
              <a:lnSpc>
                <a:spcPts val="119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store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diverse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types,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including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text,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images,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videos, </a:t>
            </a:r>
            <a:r>
              <a:rPr dirty="0" sz="1100">
                <a:latin typeface="Times New Roman"/>
                <a:cs typeface="Times New Roman"/>
              </a:rPr>
              <a:t>audio,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sensor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social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media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feeds.</a:t>
            </a:r>
            <a:endParaRPr sz="1100">
              <a:latin typeface="Times New Roman"/>
              <a:cs typeface="Times New Roman"/>
            </a:endParaRPr>
          </a:p>
          <a:p>
            <a:pPr algn="just" marL="237490" marR="126364" indent="-224790">
              <a:lnSpc>
                <a:spcPts val="119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100">
                <a:latin typeface="Times New Roman"/>
                <a:cs typeface="Times New Roman"/>
              </a:rPr>
              <a:t>Data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lakes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becoming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increasingly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large-</a:t>
            </a:r>
            <a:r>
              <a:rPr dirty="0" sz="1100">
                <a:latin typeface="Times New Roman"/>
                <a:cs typeface="Times New Roman"/>
              </a:rPr>
              <a:t>scale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storage </a:t>
            </a:r>
            <a:r>
              <a:rPr dirty="0" sz="1100" spc="-10">
                <a:latin typeface="Times New Roman"/>
                <a:cs typeface="Times New Roman"/>
              </a:rPr>
              <a:t>	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analysis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their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flexibility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ability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handle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massive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amounts </a:t>
            </a:r>
            <a:r>
              <a:rPr dirty="0" sz="1100" spc="-10">
                <a:latin typeface="Times New Roman"/>
                <a:cs typeface="Times New Roman"/>
              </a:rPr>
              <a:t>	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data.</a:t>
            </a:r>
            <a:endParaRPr sz="11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44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100" b="1">
                <a:latin typeface="Times New Roman"/>
                <a:cs typeface="Times New Roman"/>
              </a:rPr>
              <a:t>Data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Retrieval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Challenges:</a:t>
            </a:r>
            <a:r>
              <a:rPr dirty="0" sz="1100" spc="-4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Locating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Specific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Data</a:t>
            </a:r>
            <a:r>
              <a:rPr dirty="0" sz="1100" spc="-10" b="1">
                <a:latin typeface="Times New Roman"/>
                <a:cs typeface="Times New Roman"/>
              </a:rPr>
              <a:t> Points</a:t>
            </a:r>
            <a:endParaRPr sz="1100">
              <a:latin typeface="Times New Roman"/>
              <a:cs typeface="Times New Roman"/>
            </a:endParaRPr>
          </a:p>
          <a:p>
            <a:pPr marL="241300" marR="60960" indent="-228600">
              <a:lnSpc>
                <a:spcPts val="119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100">
                <a:latin typeface="Times New Roman"/>
                <a:cs typeface="Times New Roman"/>
              </a:rPr>
              <a:t>Searching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specific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points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lakes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time-</a:t>
            </a:r>
            <a:r>
              <a:rPr dirty="0" sz="1100">
                <a:latin typeface="Times New Roman"/>
                <a:cs typeface="Times New Roman"/>
              </a:rPr>
              <a:t>consuming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challenging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unstructured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nature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lack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efficient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indexing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mechanisms.</a:t>
            </a:r>
            <a:endParaRPr sz="1100">
              <a:latin typeface="Times New Roman"/>
              <a:cs typeface="Times New Roman"/>
            </a:endParaRPr>
          </a:p>
          <a:p>
            <a:pPr marL="241300" marR="155575" indent="-228600">
              <a:lnSpc>
                <a:spcPts val="119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100">
                <a:latin typeface="Times New Roman"/>
                <a:cs typeface="Times New Roman"/>
              </a:rPr>
              <a:t>Traditional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algorithms,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such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linear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binary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become </a:t>
            </a:r>
            <a:r>
              <a:rPr dirty="0" sz="1100">
                <a:latin typeface="Times New Roman"/>
                <a:cs typeface="Times New Roman"/>
              </a:rPr>
              <a:t>inefficient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dataset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size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grows, making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impractical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large-</a:t>
            </a:r>
            <a:r>
              <a:rPr dirty="0" sz="1100" spc="-10">
                <a:latin typeface="Times New Roman"/>
                <a:cs typeface="Times New Roman"/>
              </a:rPr>
              <a:t>scale </a:t>
            </a:r>
            <a:r>
              <a:rPr dirty="0" sz="1100">
                <a:latin typeface="Times New Roman"/>
                <a:cs typeface="Times New Roman"/>
              </a:rPr>
              <a:t>data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retrieval.</a:t>
            </a:r>
            <a:endParaRPr sz="1100">
              <a:latin typeface="Times New Roman"/>
              <a:cs typeface="Times New Roman"/>
            </a:endParaRPr>
          </a:p>
          <a:p>
            <a:pPr algn="just" marL="237490" marR="144145" indent="-224790">
              <a:lnSpc>
                <a:spcPts val="119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unstructured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nature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lakes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makes it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difficult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organize</a:t>
            </a:r>
            <a:r>
              <a:rPr dirty="0" sz="1100" spc="-25">
                <a:latin typeface="Times New Roman"/>
                <a:cs typeface="Times New Roman"/>
              </a:rPr>
              <a:t> and </a:t>
            </a:r>
            <a:r>
              <a:rPr dirty="0" sz="1100" spc="-25">
                <a:latin typeface="Times New Roman"/>
                <a:cs typeface="Times New Roman"/>
              </a:rPr>
              <a:t>	</a:t>
            </a:r>
            <a:r>
              <a:rPr dirty="0" sz="1100">
                <a:latin typeface="Times New Roman"/>
                <a:cs typeface="Times New Roman"/>
              </a:rPr>
              <a:t>index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effectively,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hindering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efficient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search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 retrieval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operations.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0"/>
            <a:ext cx="6096000" cy="68578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031494"/>
            <a:ext cx="314452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/>
              <a:t>Contd:Introduction</a:t>
            </a:r>
            <a:endParaRPr sz="32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604" y="4709518"/>
            <a:ext cx="3174317" cy="46691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427726" y="1029462"/>
            <a:ext cx="5781040" cy="3181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ts val="2280"/>
              </a:lnSpc>
              <a:spcBef>
                <a:spcPts val="10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Grover's</a:t>
            </a:r>
            <a:r>
              <a:rPr dirty="0" sz="2000" spc="-1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Algorithm:</a:t>
            </a:r>
            <a:r>
              <a:rPr dirty="0" sz="2000" spc="-1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</a:t>
            </a:r>
            <a:r>
              <a:rPr dirty="0" sz="2000" spc="-8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Quantum</a:t>
            </a:r>
            <a:r>
              <a:rPr dirty="0" sz="2000" spc="-10" b="1">
                <a:latin typeface="Times New Roman"/>
                <a:cs typeface="Times New Roman"/>
              </a:rPr>
              <a:t> Search</a:t>
            </a:r>
            <a:r>
              <a:rPr dirty="0" sz="2000" spc="-10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Algorithm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ts val="2280"/>
              </a:lnSpc>
            </a:pPr>
            <a:r>
              <a:rPr dirty="0" sz="2000" b="1">
                <a:latin typeface="Times New Roman"/>
                <a:cs typeface="Times New Roman"/>
              </a:rPr>
              <a:t>for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Efficient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Data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Retrieval</a:t>
            </a:r>
            <a:endParaRPr sz="2000">
              <a:latin typeface="Times New Roman"/>
              <a:cs typeface="Times New Roman"/>
            </a:endParaRPr>
          </a:p>
          <a:p>
            <a:pPr marL="241300" marR="57150" indent="-228600">
              <a:lnSpc>
                <a:spcPts val="216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Times New Roman"/>
                <a:cs typeface="Times New Roman"/>
              </a:rPr>
              <a:t>Grover's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algorithm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 quantum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search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algorithm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that </a:t>
            </a:r>
            <a:r>
              <a:rPr dirty="0" sz="2000">
                <a:latin typeface="Times New Roman"/>
                <a:cs typeface="Times New Roman"/>
              </a:rPr>
              <a:t>offers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significant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improvement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search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efficiency </a:t>
            </a:r>
            <a:r>
              <a:rPr dirty="0" sz="2000">
                <a:latin typeface="Times New Roman"/>
                <a:cs typeface="Times New Roman"/>
              </a:rPr>
              <a:t>over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classical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algorithms.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ts val="2280"/>
              </a:lnSpc>
              <a:spcBef>
                <a:spcPts val="74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locate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item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unsorted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list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 </a:t>
            </a:r>
            <a:r>
              <a:rPr dirty="0" sz="2000" spc="-20">
                <a:latin typeface="Times New Roman"/>
                <a:cs typeface="Times New Roman"/>
              </a:rPr>
              <a:t>time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ts val="2280"/>
              </a:lnSpc>
            </a:pPr>
            <a:r>
              <a:rPr dirty="0" sz="2000">
                <a:latin typeface="Times New Roman"/>
                <a:cs typeface="Times New Roman"/>
              </a:rPr>
              <a:t>complexity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O(√N),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where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size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list.</a:t>
            </a:r>
            <a:endParaRPr sz="2000">
              <a:latin typeface="Times New Roman"/>
              <a:cs typeface="Times New Roman"/>
            </a:endParaRPr>
          </a:p>
          <a:p>
            <a:pPr marL="241300" marR="68580" indent="-228600">
              <a:lnSpc>
                <a:spcPts val="216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represents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substantial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improvement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over </a:t>
            </a:r>
            <a:r>
              <a:rPr dirty="0" sz="2000">
                <a:latin typeface="Times New Roman"/>
                <a:cs typeface="Times New Roman"/>
              </a:rPr>
              <a:t>classical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algorithms,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which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have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complexity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of </a:t>
            </a:r>
            <a:r>
              <a:rPr dirty="0" sz="2000">
                <a:latin typeface="Times New Roman"/>
                <a:cs typeface="Times New Roman"/>
              </a:rPr>
              <a:t>O(N)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finding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 item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 an unsorted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list.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68556" y="0"/>
            <a:ext cx="12344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037076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8009" y="785875"/>
            <a:ext cx="2801620" cy="1604010"/>
          </a:xfrm>
          <a:prstGeom prst="rect"/>
        </p:spPr>
        <p:txBody>
          <a:bodyPr wrap="square" lIns="0" tIns="75565" rIns="0" bIns="0" rtlCol="0" vert="horz">
            <a:spAutoFit/>
          </a:bodyPr>
          <a:lstStyle/>
          <a:p>
            <a:pPr marL="12700" marR="5715" indent="965835">
              <a:lnSpc>
                <a:spcPts val="4000"/>
              </a:lnSpc>
              <a:spcBef>
                <a:spcPts val="595"/>
              </a:spcBef>
            </a:pPr>
            <a:r>
              <a:rPr dirty="0" sz="3700" spc="-20">
                <a:solidFill>
                  <a:srgbClr val="FFFFFF"/>
                </a:solidFill>
                <a:latin typeface="Calibri"/>
                <a:cs typeface="Calibri"/>
              </a:rPr>
              <a:t>Quantum </a:t>
            </a:r>
            <a:r>
              <a:rPr dirty="0" sz="3700" spc="-10">
                <a:solidFill>
                  <a:srgbClr val="FFFFFF"/>
                </a:solidFill>
                <a:latin typeface="Calibri"/>
                <a:cs typeface="Calibri"/>
              </a:rPr>
              <a:t>Superposition:</a:t>
            </a:r>
            <a:endParaRPr sz="3700">
              <a:latin typeface="Calibri"/>
              <a:cs typeface="Calibri"/>
            </a:endParaRPr>
          </a:p>
          <a:p>
            <a:pPr marL="1015365">
              <a:lnSpc>
                <a:spcPts val="3935"/>
              </a:lnSpc>
            </a:pPr>
            <a:r>
              <a:rPr dirty="0" sz="3700" spc="-10">
                <a:solidFill>
                  <a:srgbClr val="FFFFFF"/>
                </a:solidFill>
                <a:latin typeface="Calibri"/>
                <a:cs typeface="Calibri"/>
              </a:rPr>
              <a:t>Exploring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55421" y="2308605"/>
            <a:ext cx="2934335" cy="160464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algn="r" marL="12700" marR="5080" indent="1297940">
              <a:lnSpc>
                <a:spcPct val="90000"/>
              </a:lnSpc>
              <a:spcBef>
                <a:spcPts val="540"/>
              </a:spcBef>
            </a:pPr>
            <a:r>
              <a:rPr dirty="0" sz="3700" spc="-10">
                <a:solidFill>
                  <a:srgbClr val="FFFFFF"/>
                </a:solidFill>
                <a:latin typeface="Calibri"/>
                <a:cs typeface="Calibri"/>
              </a:rPr>
              <a:t>Multiple Possibilities Simultaneously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89753" y="445388"/>
            <a:ext cx="6376035" cy="550799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241300" marR="574675" indent="-228600">
              <a:lnSpc>
                <a:spcPts val="205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900" b="1">
                <a:latin typeface="Calibri"/>
                <a:cs typeface="Calibri"/>
              </a:rPr>
              <a:t>Explanation</a:t>
            </a:r>
            <a:r>
              <a:rPr dirty="0" sz="1900" spc="-6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of</a:t>
            </a:r>
            <a:r>
              <a:rPr dirty="0" sz="1900" spc="-7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Quantum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Superposition: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</a:t>
            </a:r>
            <a:r>
              <a:rPr dirty="0" sz="1900" spc="-7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Fundamental </a:t>
            </a:r>
            <a:r>
              <a:rPr dirty="0" sz="1900" b="1">
                <a:latin typeface="Calibri"/>
                <a:cs typeface="Calibri"/>
              </a:rPr>
              <a:t>Principle</a:t>
            </a:r>
            <a:r>
              <a:rPr dirty="0" sz="1900" spc="-6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of</a:t>
            </a:r>
            <a:r>
              <a:rPr dirty="0" sz="1900" spc="-6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Quantum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Mechanics</a:t>
            </a:r>
            <a:endParaRPr sz="1900">
              <a:latin typeface="Calibri"/>
              <a:cs typeface="Calibri"/>
            </a:endParaRPr>
          </a:p>
          <a:p>
            <a:pPr marL="241300" marR="5080" indent="-228600">
              <a:lnSpc>
                <a:spcPts val="205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900" spc="-10">
                <a:latin typeface="Calibri"/>
                <a:cs typeface="Calibri"/>
              </a:rPr>
              <a:t>Quantum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superposition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fundamental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principle</a:t>
            </a:r>
            <a:r>
              <a:rPr dirty="0" sz="1900" spc="-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quantum </a:t>
            </a:r>
            <a:r>
              <a:rPr dirty="0" sz="1900">
                <a:latin typeface="Calibri"/>
                <a:cs typeface="Calibri"/>
              </a:rPr>
              <a:t>mechanics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that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states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that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quantum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system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can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exist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 spc="-50">
                <a:latin typeface="Calibri"/>
                <a:cs typeface="Calibri"/>
              </a:rPr>
              <a:t>a </a:t>
            </a:r>
            <a:r>
              <a:rPr dirty="0" sz="1900" spc="-10">
                <a:latin typeface="Calibri"/>
                <a:cs typeface="Calibri"/>
              </a:rPr>
              <a:t>combination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states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simultaneously.</a:t>
            </a:r>
            <a:endParaRPr sz="1900">
              <a:latin typeface="Calibri"/>
              <a:cs typeface="Calibri"/>
            </a:endParaRPr>
          </a:p>
          <a:p>
            <a:pPr marL="241300" marR="286385" indent="-228600">
              <a:lnSpc>
                <a:spcPts val="205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900">
                <a:latin typeface="Calibri"/>
                <a:cs typeface="Calibri"/>
              </a:rPr>
              <a:t>This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means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that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quantum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bit,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or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qubit,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can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state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of </a:t>
            </a:r>
            <a:r>
              <a:rPr dirty="0" sz="1900">
                <a:latin typeface="Calibri"/>
                <a:cs typeface="Calibri"/>
              </a:rPr>
              <a:t>both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0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1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at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same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time.</a:t>
            </a:r>
            <a:endParaRPr sz="1900">
              <a:latin typeface="Calibri"/>
              <a:cs typeface="Calibri"/>
            </a:endParaRPr>
          </a:p>
          <a:p>
            <a:pPr marL="241300" marR="234315" indent="-228600">
              <a:lnSpc>
                <a:spcPts val="205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900">
                <a:latin typeface="Calibri"/>
                <a:cs typeface="Calibri"/>
              </a:rPr>
              <a:t>This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contrasts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with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classical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bits,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which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can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only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state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either</a:t>
            </a:r>
            <a:r>
              <a:rPr dirty="0" sz="1900" spc="-1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0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or</a:t>
            </a:r>
            <a:r>
              <a:rPr dirty="0" sz="1900" spc="-25">
                <a:latin typeface="Calibri"/>
                <a:cs typeface="Calibri"/>
              </a:rPr>
              <a:t> 1.</a:t>
            </a:r>
            <a:endParaRPr sz="1900">
              <a:latin typeface="Calibri"/>
              <a:cs typeface="Calibri"/>
            </a:endParaRPr>
          </a:p>
          <a:p>
            <a:pPr marL="241300" marR="190500" indent="-228600">
              <a:lnSpc>
                <a:spcPts val="205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900" spc="-10" b="1">
                <a:latin typeface="Calibri"/>
                <a:cs typeface="Calibri"/>
              </a:rPr>
              <a:t>Implications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for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Search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Algorithms: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Parallel</a:t>
            </a:r>
            <a:r>
              <a:rPr dirty="0" sz="1900" spc="-5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Exploration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spc="-25" b="1">
                <a:latin typeface="Calibri"/>
                <a:cs typeface="Calibri"/>
              </a:rPr>
              <a:t>and </a:t>
            </a:r>
            <a:r>
              <a:rPr dirty="0" sz="1900" b="1">
                <a:latin typeface="Calibri"/>
                <a:cs typeface="Calibri"/>
              </a:rPr>
              <a:t>Enhanced</a:t>
            </a:r>
            <a:r>
              <a:rPr dirty="0" sz="1900" spc="-8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Efficiency</a:t>
            </a:r>
            <a:endParaRPr sz="1900">
              <a:latin typeface="Calibri"/>
              <a:cs typeface="Calibri"/>
            </a:endParaRPr>
          </a:p>
          <a:p>
            <a:pPr marL="241300" marR="128270" indent="-228600">
              <a:lnSpc>
                <a:spcPts val="205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900" spc="-10">
                <a:latin typeface="Calibri"/>
                <a:cs typeface="Calibri"/>
              </a:rPr>
              <a:t>Quantum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superposition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allows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quantum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search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algorithms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to </a:t>
            </a:r>
            <a:r>
              <a:rPr dirty="0" sz="1900">
                <a:latin typeface="Calibri"/>
                <a:cs typeface="Calibri"/>
              </a:rPr>
              <a:t>explore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multiple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possibilities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simultaneously,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leading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to </a:t>
            </a:r>
            <a:r>
              <a:rPr dirty="0" sz="1900" spc="-10">
                <a:latin typeface="Calibri"/>
                <a:cs typeface="Calibri"/>
              </a:rPr>
              <a:t>significant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improvements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search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speed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over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classical algorithms.</a:t>
            </a:r>
            <a:endParaRPr sz="1900">
              <a:latin typeface="Calibri"/>
              <a:cs typeface="Calibri"/>
            </a:endParaRPr>
          </a:p>
          <a:p>
            <a:pPr marL="241300" marR="43180" indent="-228600">
              <a:lnSpc>
                <a:spcPct val="9010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900">
                <a:latin typeface="Calibri"/>
                <a:cs typeface="Calibri"/>
              </a:rPr>
              <a:t>By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exploring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multiple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states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concurrently,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quantum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search algorithms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can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effectively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reduce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search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space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quickly </a:t>
            </a:r>
            <a:r>
              <a:rPr dirty="0" sz="1900">
                <a:latin typeface="Calibri"/>
                <a:cs typeface="Calibri"/>
              </a:rPr>
              <a:t>identify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desired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item.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8009" y="785875"/>
            <a:ext cx="2801620" cy="1604010"/>
          </a:xfrm>
          <a:prstGeom prst="rect"/>
        </p:spPr>
        <p:txBody>
          <a:bodyPr wrap="square" lIns="0" tIns="75565" rIns="0" bIns="0" rtlCol="0" vert="horz">
            <a:spAutoFit/>
          </a:bodyPr>
          <a:lstStyle/>
          <a:p>
            <a:pPr marL="12700" marR="5715" indent="965835">
              <a:lnSpc>
                <a:spcPts val="4000"/>
              </a:lnSpc>
              <a:spcBef>
                <a:spcPts val="595"/>
              </a:spcBef>
            </a:pPr>
            <a:r>
              <a:rPr dirty="0" sz="3700" spc="-20">
                <a:solidFill>
                  <a:srgbClr val="FFFFFF"/>
                </a:solidFill>
                <a:latin typeface="Calibri"/>
                <a:cs typeface="Calibri"/>
              </a:rPr>
              <a:t>Quantum </a:t>
            </a:r>
            <a:r>
              <a:rPr dirty="0" sz="3700" spc="-10">
                <a:solidFill>
                  <a:srgbClr val="FFFFFF"/>
                </a:solidFill>
                <a:latin typeface="Calibri"/>
                <a:cs typeface="Calibri"/>
              </a:rPr>
              <a:t>Superposition:</a:t>
            </a:r>
            <a:endParaRPr sz="3700">
              <a:latin typeface="Calibri"/>
              <a:cs typeface="Calibri"/>
            </a:endParaRPr>
          </a:p>
          <a:p>
            <a:pPr marL="1015365">
              <a:lnSpc>
                <a:spcPts val="3935"/>
              </a:lnSpc>
            </a:pPr>
            <a:r>
              <a:rPr dirty="0" sz="3700" spc="-10">
                <a:solidFill>
                  <a:srgbClr val="FFFFFF"/>
                </a:solidFill>
                <a:latin typeface="Calibri"/>
                <a:cs typeface="Calibri"/>
              </a:rPr>
              <a:t>Exploring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55421" y="2308605"/>
            <a:ext cx="2934335" cy="160464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algn="r" marL="12700" marR="5080" indent="1297940">
              <a:lnSpc>
                <a:spcPct val="90000"/>
              </a:lnSpc>
              <a:spcBef>
                <a:spcPts val="540"/>
              </a:spcBef>
            </a:pPr>
            <a:r>
              <a:rPr dirty="0" sz="3700" spc="-10">
                <a:solidFill>
                  <a:srgbClr val="FFFFFF"/>
                </a:solidFill>
                <a:latin typeface="Calibri"/>
                <a:cs typeface="Calibri"/>
              </a:rPr>
              <a:t>Multiple Possibilities Simultaneously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661153" y="604520"/>
            <a:ext cx="2803525" cy="486410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241300" marR="52069" indent="-228600">
              <a:lnSpc>
                <a:spcPct val="90000"/>
              </a:lnSpc>
              <a:spcBef>
                <a:spcPts val="3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700" spc="-10" b="1">
                <a:latin typeface="Calibri"/>
                <a:cs typeface="Calibri"/>
              </a:rPr>
              <a:t>Illustration</a:t>
            </a:r>
            <a:r>
              <a:rPr dirty="0" sz="1700" spc="-40" b="1">
                <a:latin typeface="Calibri"/>
                <a:cs typeface="Calibri"/>
              </a:rPr>
              <a:t> </a:t>
            </a:r>
            <a:r>
              <a:rPr dirty="0" sz="1700" b="1">
                <a:latin typeface="Calibri"/>
                <a:cs typeface="Calibri"/>
              </a:rPr>
              <a:t>of</a:t>
            </a:r>
            <a:r>
              <a:rPr dirty="0" sz="1700" spc="10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Superposition </a:t>
            </a:r>
            <a:r>
              <a:rPr dirty="0" sz="1700" b="1">
                <a:latin typeface="Calibri"/>
                <a:cs typeface="Calibri"/>
              </a:rPr>
              <a:t>using</a:t>
            </a:r>
            <a:r>
              <a:rPr dirty="0" sz="1700" spc="-60" b="1">
                <a:latin typeface="Calibri"/>
                <a:cs typeface="Calibri"/>
              </a:rPr>
              <a:t> </a:t>
            </a:r>
            <a:r>
              <a:rPr dirty="0" sz="1700" b="1">
                <a:latin typeface="Calibri"/>
                <a:cs typeface="Calibri"/>
              </a:rPr>
              <a:t>Quantum</a:t>
            </a:r>
            <a:r>
              <a:rPr dirty="0" sz="1700" spc="-45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Circuits: Visualizing</a:t>
            </a:r>
            <a:r>
              <a:rPr dirty="0" sz="1700" spc="-5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Quantum Operations</a:t>
            </a:r>
            <a:endParaRPr sz="1700">
              <a:latin typeface="Calibri"/>
              <a:cs typeface="Calibri"/>
            </a:endParaRPr>
          </a:p>
          <a:p>
            <a:pPr marL="241300" marR="185420" indent="-228600">
              <a:lnSpc>
                <a:spcPts val="1839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Quantum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circuits</a:t>
            </a:r>
            <a:r>
              <a:rPr dirty="0" sz="1700" spc="-7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are</a:t>
            </a:r>
            <a:r>
              <a:rPr dirty="0" sz="1700" spc="-50">
                <a:latin typeface="Calibri"/>
                <a:cs typeface="Calibri"/>
              </a:rPr>
              <a:t> a </a:t>
            </a:r>
            <a:r>
              <a:rPr dirty="0" sz="1700" spc="-10">
                <a:latin typeface="Calibri"/>
                <a:cs typeface="Calibri"/>
              </a:rPr>
              <a:t>graphical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representation</a:t>
            </a:r>
            <a:r>
              <a:rPr dirty="0" sz="1700" spc="1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of </a:t>
            </a:r>
            <a:r>
              <a:rPr dirty="0" sz="1700">
                <a:latin typeface="Calibri"/>
                <a:cs typeface="Calibri"/>
              </a:rPr>
              <a:t>quantum</a:t>
            </a:r>
            <a:r>
              <a:rPr dirty="0" sz="1700" spc="-8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computations.</a:t>
            </a:r>
            <a:endParaRPr sz="170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They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provide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visual representation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1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how </a:t>
            </a:r>
            <a:r>
              <a:rPr dirty="0" sz="1700">
                <a:latin typeface="Calibri"/>
                <a:cs typeface="Calibri"/>
              </a:rPr>
              <a:t>quantum</a:t>
            </a:r>
            <a:r>
              <a:rPr dirty="0" sz="1700" spc="-8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gates,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including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the </a:t>
            </a:r>
            <a:r>
              <a:rPr dirty="0" sz="1700">
                <a:latin typeface="Calibri"/>
                <a:cs typeface="Calibri"/>
              </a:rPr>
              <a:t>Hadamard</a:t>
            </a:r>
            <a:r>
              <a:rPr dirty="0" sz="1700" spc="-8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gate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the </a:t>
            </a:r>
            <a:r>
              <a:rPr dirty="0" sz="1700">
                <a:latin typeface="Calibri"/>
                <a:cs typeface="Calibri"/>
              </a:rPr>
              <a:t>oracle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gate,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are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applied</a:t>
            </a:r>
            <a:r>
              <a:rPr dirty="0" sz="1700" spc="-8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to </a:t>
            </a:r>
            <a:r>
              <a:rPr dirty="0" sz="1700">
                <a:latin typeface="Calibri"/>
                <a:cs typeface="Calibri"/>
              </a:rPr>
              <a:t>qubits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manipulate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their </a:t>
            </a:r>
            <a:r>
              <a:rPr dirty="0" sz="1700" spc="-10">
                <a:latin typeface="Calibri"/>
                <a:cs typeface="Calibri"/>
              </a:rPr>
              <a:t>states.</a:t>
            </a:r>
            <a:endParaRPr sz="1700">
              <a:latin typeface="Calibri"/>
              <a:cs typeface="Calibri"/>
            </a:endParaRPr>
          </a:p>
          <a:p>
            <a:pPr marL="241300" marR="111125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700">
                <a:latin typeface="Calibri"/>
                <a:cs typeface="Calibri"/>
              </a:rPr>
              <a:t>Visualizing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quantum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circuits </a:t>
            </a:r>
            <a:r>
              <a:rPr dirty="0" sz="1700">
                <a:latin typeface="Calibri"/>
                <a:cs typeface="Calibri"/>
              </a:rPr>
              <a:t>helps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understanding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how </a:t>
            </a:r>
            <a:r>
              <a:rPr dirty="0" sz="1700">
                <a:latin typeface="Calibri"/>
                <a:cs typeface="Calibri"/>
              </a:rPr>
              <a:t>superposition</a:t>
            </a:r>
            <a:r>
              <a:rPr dirty="0" sz="1700" spc="-8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utilized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to </a:t>
            </a:r>
            <a:r>
              <a:rPr dirty="0" sz="1700">
                <a:latin typeface="Calibri"/>
                <a:cs typeface="Calibri"/>
              </a:rPr>
              <a:t>explore</a:t>
            </a:r>
            <a:r>
              <a:rPr dirty="0" sz="1700" spc="-8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multiple</a:t>
            </a:r>
            <a:r>
              <a:rPr dirty="0" sz="1700" spc="-9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states simultaneously.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5787" y="2892551"/>
            <a:ext cx="3463284" cy="10551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3086" y="990980"/>
            <a:ext cx="5737860" cy="1183640"/>
          </a:xfrm>
          <a:prstGeom prst="rect"/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/>
              <a:t>Oracle</a:t>
            </a:r>
            <a:r>
              <a:rPr dirty="0" sz="4000" spc="-110"/>
              <a:t> </a:t>
            </a:r>
            <a:r>
              <a:rPr dirty="0" sz="4000"/>
              <a:t>Gate:</a:t>
            </a:r>
            <a:r>
              <a:rPr dirty="0" sz="4000" spc="-125"/>
              <a:t> </a:t>
            </a:r>
            <a:r>
              <a:rPr dirty="0" sz="4000"/>
              <a:t>Identifying</a:t>
            </a:r>
            <a:r>
              <a:rPr dirty="0" sz="4000" spc="-125"/>
              <a:t> </a:t>
            </a:r>
            <a:r>
              <a:rPr dirty="0" sz="4000" spc="-25"/>
              <a:t>the </a:t>
            </a:r>
            <a:r>
              <a:rPr dirty="0" sz="4000"/>
              <a:t>Marked</a:t>
            </a:r>
            <a:r>
              <a:rPr dirty="0" sz="4000" spc="-114"/>
              <a:t> </a:t>
            </a:r>
            <a:r>
              <a:rPr dirty="0" sz="4000" spc="-20"/>
              <a:t>Item</a:t>
            </a:r>
            <a:endParaRPr sz="4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197095" cy="68579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633086" y="2311374"/>
            <a:ext cx="6492240" cy="341122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2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400" b="1">
                <a:latin typeface="Times New Roman"/>
                <a:cs typeface="Times New Roman"/>
              </a:rPr>
              <a:t>Definition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the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Oracle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Gate:</a:t>
            </a:r>
            <a:r>
              <a:rPr dirty="0" sz="1400" spc="-10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</a:t>
            </a:r>
            <a:r>
              <a:rPr dirty="0" sz="1400" spc="-8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Crucial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Component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in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Grover's</a:t>
            </a:r>
            <a:r>
              <a:rPr dirty="0" sz="1400" spc="-11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Algorithm</a:t>
            </a:r>
            <a:endParaRPr sz="1400">
              <a:latin typeface="Times New Roman"/>
              <a:cs typeface="Times New Roman"/>
            </a:endParaRPr>
          </a:p>
          <a:p>
            <a:pPr marL="241300" marR="361950" indent="-228600">
              <a:lnSpc>
                <a:spcPts val="151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oracle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quantum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plays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crucial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role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Grover's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algorithm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by </a:t>
            </a:r>
            <a:r>
              <a:rPr dirty="0" sz="1400">
                <a:latin typeface="Times New Roman"/>
                <a:cs typeface="Times New Roman"/>
              </a:rPr>
              <a:t>marking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desired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item.</a:t>
            </a:r>
            <a:endParaRPr sz="1400">
              <a:latin typeface="Times New Roman"/>
              <a:cs typeface="Times New Roman"/>
            </a:endParaRPr>
          </a:p>
          <a:p>
            <a:pPr marL="241300" marR="241935" indent="-228600">
              <a:lnSpc>
                <a:spcPts val="151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differentiates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marked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item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unmarked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items,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enabling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algorithm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 </a:t>
            </a:r>
            <a:r>
              <a:rPr dirty="0" sz="1400">
                <a:latin typeface="Times New Roman"/>
                <a:cs typeface="Times New Roman"/>
              </a:rPr>
              <a:t>focus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search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efforts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relevant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data.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19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400" b="1">
                <a:latin typeface="Times New Roman"/>
                <a:cs typeface="Times New Roman"/>
              </a:rPr>
              <a:t>Examples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Oracle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Gate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Implementation: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Tailored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to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Specific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Search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Scenarios</a:t>
            </a:r>
            <a:endParaRPr sz="1400">
              <a:latin typeface="Times New Roman"/>
              <a:cs typeface="Times New Roman"/>
            </a:endParaRPr>
          </a:p>
          <a:p>
            <a:pPr marL="241300" marR="17780" indent="-228600">
              <a:lnSpc>
                <a:spcPts val="151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implementation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oracle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depends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structure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search query.</a:t>
            </a:r>
            <a:endParaRPr sz="14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151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instance,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searching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customer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transactions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certain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purchase </a:t>
            </a:r>
            <a:r>
              <a:rPr dirty="0" sz="1400">
                <a:latin typeface="Times New Roman"/>
                <a:cs typeface="Times New Roman"/>
              </a:rPr>
              <a:t>patterns,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oracle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would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evaluate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each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transaction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against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criteria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 </a:t>
            </a:r>
            <a:r>
              <a:rPr dirty="0" sz="1400">
                <a:latin typeface="Times New Roman"/>
                <a:cs typeface="Times New Roman"/>
              </a:rPr>
              <a:t>determine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matches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desired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item.</a:t>
            </a:r>
            <a:endParaRPr sz="1400">
              <a:latin typeface="Times New Roman"/>
              <a:cs typeface="Times New Roman"/>
            </a:endParaRPr>
          </a:p>
          <a:p>
            <a:pPr marL="241300" marR="144145" indent="-228600">
              <a:lnSpc>
                <a:spcPts val="151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400" spc="-10">
                <a:latin typeface="Times New Roman"/>
                <a:cs typeface="Times New Roman"/>
              </a:rPr>
              <a:t>Similarly,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anomalies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streams,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oracle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would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flag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data </a:t>
            </a:r>
            <a:r>
              <a:rPr dirty="0" sz="1400">
                <a:latin typeface="Times New Roman"/>
                <a:cs typeface="Times New Roman"/>
              </a:rPr>
              <a:t>points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deviate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normal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patterns.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3086" y="990980"/>
            <a:ext cx="5725795" cy="1183640"/>
          </a:xfrm>
          <a:prstGeom prst="rect"/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/>
              <a:t>Amplification</a:t>
            </a:r>
            <a:r>
              <a:rPr dirty="0" sz="4000" spc="-145"/>
              <a:t> </a:t>
            </a:r>
            <a:r>
              <a:rPr dirty="0" sz="4000"/>
              <a:t>and</a:t>
            </a:r>
            <a:r>
              <a:rPr dirty="0" sz="4000" spc="-130"/>
              <a:t> </a:t>
            </a:r>
            <a:r>
              <a:rPr dirty="0" sz="4000" spc="-10"/>
              <a:t>Iteration: </a:t>
            </a:r>
            <a:r>
              <a:rPr dirty="0" sz="4000"/>
              <a:t>Refining</a:t>
            </a:r>
            <a:r>
              <a:rPr dirty="0" sz="4000" spc="-100"/>
              <a:t> </a:t>
            </a:r>
            <a:r>
              <a:rPr dirty="0" sz="4000"/>
              <a:t>the</a:t>
            </a:r>
            <a:r>
              <a:rPr dirty="0" sz="4000" spc="-90"/>
              <a:t> </a:t>
            </a:r>
            <a:r>
              <a:rPr dirty="0" sz="4000" spc="-10"/>
              <a:t>Search</a:t>
            </a:r>
            <a:endParaRPr sz="4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"/>
            <a:ext cx="4197094" cy="6857873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747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25"/>
              </a:spcBef>
              <a:buFont typeface="Arial"/>
              <a:buChar char="•"/>
              <a:tabLst>
                <a:tab pos="240665" algn="l"/>
              </a:tabLst>
            </a:pPr>
            <a:r>
              <a:rPr dirty="0"/>
              <a:t>Explanation</a:t>
            </a:r>
            <a:r>
              <a:rPr dirty="0" spc="-7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0"/>
              <a:t> </a:t>
            </a:r>
            <a:r>
              <a:rPr dirty="0"/>
              <a:t>Amplification</a:t>
            </a:r>
            <a:r>
              <a:rPr dirty="0" spc="-45"/>
              <a:t> </a:t>
            </a:r>
            <a:r>
              <a:rPr dirty="0"/>
              <a:t>Process:</a:t>
            </a:r>
            <a:r>
              <a:rPr dirty="0" spc="-25"/>
              <a:t> </a:t>
            </a:r>
            <a:r>
              <a:rPr dirty="0" spc="-10"/>
              <a:t>Repeated</a:t>
            </a:r>
            <a:r>
              <a:rPr dirty="0" spc="-100"/>
              <a:t> </a:t>
            </a:r>
            <a:r>
              <a:rPr dirty="0"/>
              <a:t>Application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Quantum</a:t>
            </a:r>
            <a:r>
              <a:rPr dirty="0" spc="-55"/>
              <a:t> </a:t>
            </a:r>
            <a:r>
              <a:rPr dirty="0" spc="-10"/>
              <a:t>Gates</a:t>
            </a:r>
          </a:p>
          <a:p>
            <a:pPr marL="241300" marR="574040" indent="-228600">
              <a:lnSpc>
                <a:spcPts val="151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amplification</a:t>
            </a:r>
            <a:r>
              <a:rPr dirty="0" spc="-6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process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in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Grover's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algorithm</a:t>
            </a:r>
            <a:r>
              <a:rPr dirty="0" spc="-5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involves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repeatedly</a:t>
            </a:r>
            <a:r>
              <a:rPr dirty="0" spc="-6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applying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spc="-25" b="0">
                <a:latin typeface="Times New Roman"/>
                <a:cs typeface="Times New Roman"/>
              </a:rPr>
              <a:t>the </a:t>
            </a:r>
            <a:r>
              <a:rPr dirty="0" b="0">
                <a:latin typeface="Times New Roman"/>
                <a:cs typeface="Times New Roman"/>
              </a:rPr>
              <a:t>Hadamard gate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oracle</a:t>
            </a:r>
            <a:r>
              <a:rPr dirty="0" spc="-20" b="0">
                <a:latin typeface="Times New Roman"/>
                <a:cs typeface="Times New Roman"/>
              </a:rPr>
              <a:t> gate.</a:t>
            </a:r>
          </a:p>
          <a:p>
            <a:pPr marL="241300" marR="393065" indent="-228600">
              <a:lnSpc>
                <a:spcPts val="151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Hadamard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gate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manipulates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qubits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to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increase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probability</a:t>
            </a:r>
            <a:r>
              <a:rPr dirty="0" spc="-6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of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finding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spc="-25" b="0">
                <a:latin typeface="Times New Roman"/>
                <a:cs typeface="Times New Roman"/>
              </a:rPr>
              <a:t>the </a:t>
            </a:r>
            <a:r>
              <a:rPr dirty="0" b="0">
                <a:latin typeface="Times New Roman"/>
                <a:cs typeface="Times New Roman"/>
              </a:rPr>
              <a:t>marked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item.</a:t>
            </a:r>
          </a:p>
          <a:p>
            <a:pPr marL="241300" marR="24130" indent="-228600">
              <a:lnSpc>
                <a:spcPts val="151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oracle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gate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amplifies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this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probability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by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further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differentiating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marked</a:t>
            </a:r>
            <a:r>
              <a:rPr dirty="0" spc="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item</a:t>
            </a:r>
            <a:r>
              <a:rPr dirty="0" spc="-20" b="0">
                <a:latin typeface="Times New Roman"/>
                <a:cs typeface="Times New Roman"/>
              </a:rPr>
              <a:t> from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unmarked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items.</a:t>
            </a:r>
          </a:p>
          <a:p>
            <a:pPr marL="240665" indent="-227965">
              <a:lnSpc>
                <a:spcPct val="100000"/>
              </a:lnSpc>
              <a:spcBef>
                <a:spcPts val="810"/>
              </a:spcBef>
              <a:buFont typeface="Arial"/>
              <a:buChar char="•"/>
              <a:tabLst>
                <a:tab pos="240665" algn="l"/>
              </a:tabLst>
            </a:pPr>
            <a:r>
              <a:rPr dirty="0"/>
              <a:t>Demonstration</a:t>
            </a:r>
            <a:r>
              <a:rPr dirty="0" spc="-75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Reduced</a:t>
            </a:r>
            <a:r>
              <a:rPr dirty="0" spc="-20"/>
              <a:t> </a:t>
            </a:r>
            <a:r>
              <a:rPr dirty="0"/>
              <a:t>Search</a:t>
            </a:r>
            <a:r>
              <a:rPr dirty="0" spc="-65"/>
              <a:t> </a:t>
            </a:r>
            <a:r>
              <a:rPr dirty="0" spc="-20"/>
              <a:t>Time:</a:t>
            </a:r>
            <a:r>
              <a:rPr dirty="0" spc="-75"/>
              <a:t> </a:t>
            </a:r>
            <a:r>
              <a:rPr dirty="0"/>
              <a:t>Achieving</a:t>
            </a:r>
            <a:r>
              <a:rPr dirty="0" spc="-50"/>
              <a:t> </a:t>
            </a:r>
            <a:r>
              <a:rPr dirty="0"/>
              <a:t>O(√N)</a:t>
            </a:r>
            <a:r>
              <a:rPr dirty="0" spc="-55"/>
              <a:t> </a:t>
            </a:r>
            <a:r>
              <a:rPr dirty="0"/>
              <a:t>Time</a:t>
            </a:r>
            <a:r>
              <a:rPr dirty="0" spc="-20"/>
              <a:t> </a:t>
            </a:r>
            <a:r>
              <a:rPr dirty="0" spc="-10"/>
              <a:t>Complexity</a:t>
            </a:r>
          </a:p>
          <a:p>
            <a:pPr marL="240665" indent="-227965">
              <a:lnSpc>
                <a:spcPts val="1595"/>
              </a:lnSpc>
              <a:spcBef>
                <a:spcPts val="825"/>
              </a:spcBef>
              <a:buFont typeface="Arial"/>
              <a:buChar char="•"/>
              <a:tabLst>
                <a:tab pos="240665" algn="l"/>
              </a:tabLst>
            </a:pPr>
            <a:r>
              <a:rPr dirty="0" b="0">
                <a:latin typeface="Times New Roman"/>
                <a:cs typeface="Times New Roman"/>
              </a:rPr>
              <a:t>Through</a:t>
            </a:r>
            <a:r>
              <a:rPr dirty="0" spc="-6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repeated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iterations,</a:t>
            </a:r>
            <a:r>
              <a:rPr dirty="0" spc="-6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amplification</a:t>
            </a:r>
            <a:r>
              <a:rPr dirty="0" spc="-5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process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gradually</a:t>
            </a:r>
            <a:r>
              <a:rPr dirty="0" spc="-5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increases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probability</a:t>
            </a:r>
          </a:p>
          <a:p>
            <a:pPr marL="241300">
              <a:lnSpc>
                <a:spcPts val="1595"/>
              </a:lnSpc>
            </a:pPr>
            <a:r>
              <a:rPr dirty="0" b="0">
                <a:latin typeface="Times New Roman"/>
                <a:cs typeface="Times New Roman"/>
              </a:rPr>
              <a:t>of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finding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marked</a:t>
            </a:r>
            <a:r>
              <a:rPr dirty="0" spc="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item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while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suppressing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10" b="0">
                <a:latin typeface="Times New Roman"/>
                <a:cs typeface="Times New Roman"/>
              </a:rPr>
              <a:t> probabilities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of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unmarked</a:t>
            </a:r>
            <a:r>
              <a:rPr dirty="0" spc="-10" b="0">
                <a:latin typeface="Times New Roman"/>
                <a:cs typeface="Times New Roman"/>
              </a:rPr>
              <a:t> items.</a:t>
            </a:r>
          </a:p>
          <a:p>
            <a:pPr marL="240665" indent="-227965">
              <a:lnSpc>
                <a:spcPts val="1595"/>
              </a:lnSpc>
              <a:spcBef>
                <a:spcPts val="844"/>
              </a:spcBef>
              <a:buFont typeface="Arial"/>
              <a:buChar char="•"/>
              <a:tabLst>
                <a:tab pos="240665" algn="l"/>
              </a:tabLst>
            </a:pPr>
            <a:r>
              <a:rPr dirty="0" b="0">
                <a:latin typeface="Times New Roman"/>
                <a:cs typeface="Times New Roman"/>
              </a:rPr>
              <a:t>This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iterative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process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leads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to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significant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reduction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in</a:t>
            </a:r>
            <a:r>
              <a:rPr dirty="0" spc="-6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search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time,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achieving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spc="-20" b="0">
                <a:latin typeface="Times New Roman"/>
                <a:cs typeface="Times New Roman"/>
              </a:rPr>
              <a:t>time</a:t>
            </a:r>
          </a:p>
          <a:p>
            <a:pPr marL="241300">
              <a:lnSpc>
                <a:spcPts val="1595"/>
              </a:lnSpc>
            </a:pPr>
            <a:r>
              <a:rPr dirty="0" b="0">
                <a:latin typeface="Times New Roman"/>
                <a:cs typeface="Times New Roman"/>
              </a:rPr>
              <a:t>complexity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of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O(√N)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for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Grover's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algorithm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compared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to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O(N)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for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classical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algorithms.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6314" y="1160779"/>
            <a:ext cx="6731634" cy="1732280"/>
          </a:xfrm>
          <a:prstGeom prst="rect"/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0">
                <a:latin typeface="Calibri"/>
                <a:cs typeface="Calibri"/>
              </a:rPr>
              <a:t>Grover's</a:t>
            </a:r>
            <a:r>
              <a:rPr dirty="0" sz="4000" spc="-140">
                <a:latin typeface="Calibri"/>
                <a:cs typeface="Calibri"/>
              </a:rPr>
              <a:t> </a:t>
            </a:r>
            <a:r>
              <a:rPr dirty="0" sz="4000">
                <a:latin typeface="Calibri"/>
                <a:cs typeface="Calibri"/>
              </a:rPr>
              <a:t>Algorithm</a:t>
            </a:r>
            <a:r>
              <a:rPr dirty="0" sz="4000" spc="-155">
                <a:latin typeface="Calibri"/>
                <a:cs typeface="Calibri"/>
              </a:rPr>
              <a:t> </a:t>
            </a:r>
            <a:r>
              <a:rPr dirty="0" sz="4000">
                <a:latin typeface="Calibri"/>
                <a:cs typeface="Calibri"/>
              </a:rPr>
              <a:t>for</a:t>
            </a:r>
            <a:r>
              <a:rPr dirty="0" sz="4000" spc="-140">
                <a:latin typeface="Calibri"/>
                <a:cs typeface="Calibri"/>
              </a:rPr>
              <a:t> </a:t>
            </a:r>
            <a:r>
              <a:rPr dirty="0" sz="4000">
                <a:latin typeface="Calibri"/>
                <a:cs typeface="Calibri"/>
              </a:rPr>
              <a:t>Data</a:t>
            </a:r>
            <a:r>
              <a:rPr dirty="0" sz="4000" spc="-170">
                <a:latin typeface="Calibri"/>
                <a:cs typeface="Calibri"/>
              </a:rPr>
              <a:t> </a:t>
            </a:r>
            <a:r>
              <a:rPr dirty="0" sz="4000" spc="-20">
                <a:latin typeface="Calibri"/>
                <a:cs typeface="Calibri"/>
              </a:rPr>
              <a:t>Lake </a:t>
            </a:r>
            <a:r>
              <a:rPr dirty="0" sz="4000">
                <a:latin typeface="Calibri"/>
                <a:cs typeface="Calibri"/>
              </a:rPr>
              <a:t>Optimization:</a:t>
            </a:r>
            <a:r>
              <a:rPr dirty="0" sz="4000" spc="-175">
                <a:latin typeface="Calibri"/>
                <a:cs typeface="Calibri"/>
              </a:rPr>
              <a:t> </a:t>
            </a:r>
            <a:r>
              <a:rPr dirty="0" sz="4000" spc="-30">
                <a:latin typeface="Calibri"/>
                <a:cs typeface="Calibri"/>
              </a:rPr>
              <a:t>Real-</a:t>
            </a:r>
            <a:r>
              <a:rPr dirty="0" sz="4000" spc="-10">
                <a:latin typeface="Calibri"/>
                <a:cs typeface="Calibri"/>
              </a:rPr>
              <a:t>World Applications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086" y="2820954"/>
            <a:ext cx="703917" cy="95050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428494" y="3058795"/>
            <a:ext cx="8721725" cy="3510279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1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500" b="1">
                <a:latin typeface="Times New Roman"/>
                <a:cs typeface="Times New Roman"/>
              </a:rPr>
              <a:t>Application</a:t>
            </a:r>
            <a:r>
              <a:rPr dirty="0" sz="1500" spc="-6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to</a:t>
            </a:r>
            <a:r>
              <a:rPr dirty="0" sz="1500" spc="-2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Data</a:t>
            </a:r>
            <a:r>
              <a:rPr dirty="0" sz="1500" spc="-3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Lake</a:t>
            </a:r>
            <a:r>
              <a:rPr dirty="0" sz="1500" spc="-1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Optimization</a:t>
            </a:r>
            <a:r>
              <a:rPr dirty="0" sz="1500" spc="-5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Queries:</a:t>
            </a:r>
            <a:r>
              <a:rPr dirty="0" sz="1500" spc="-4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Enhancing</a:t>
            </a:r>
            <a:r>
              <a:rPr dirty="0" sz="1500" spc="-4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Data</a:t>
            </a:r>
            <a:r>
              <a:rPr dirty="0" sz="1500" spc="-4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Retrieval</a:t>
            </a:r>
            <a:r>
              <a:rPr dirty="0" sz="1500" spc="-40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Efficiency</a:t>
            </a:r>
            <a:endParaRPr sz="15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1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500">
                <a:latin typeface="Times New Roman"/>
                <a:cs typeface="Times New Roman"/>
              </a:rPr>
              <a:t>Grover's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algorithm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can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be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applied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various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lake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optimization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queries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improve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retrieval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efficiency.</a:t>
            </a:r>
            <a:endParaRPr sz="15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1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500">
                <a:latin typeface="Times New Roman"/>
                <a:cs typeface="Times New Roman"/>
              </a:rPr>
              <a:t>It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can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search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for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specific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points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large,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unsorted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datasets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with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remarkable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speed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accuracy.</a:t>
            </a:r>
            <a:endParaRPr sz="1500">
              <a:latin typeface="Times New Roman"/>
              <a:cs typeface="Times New Roman"/>
            </a:endParaRPr>
          </a:p>
          <a:p>
            <a:pPr marL="241300" marR="323215" indent="-228600">
              <a:lnSpc>
                <a:spcPts val="162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>
                <a:latin typeface="Times New Roman"/>
                <a:cs typeface="Times New Roman"/>
              </a:rPr>
              <a:t>This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enables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faster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analysis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decision-making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processes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by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reducing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time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required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locate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relevant </a:t>
            </a:r>
            <a:r>
              <a:rPr dirty="0" sz="1500">
                <a:latin typeface="Times New Roman"/>
                <a:cs typeface="Times New Roman"/>
              </a:rPr>
              <a:t>information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from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massive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lakes.</a:t>
            </a:r>
            <a:endParaRPr sz="15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500" b="1">
                <a:latin typeface="Times New Roman"/>
                <a:cs typeface="Times New Roman"/>
              </a:rPr>
              <a:t>Examples</a:t>
            </a:r>
            <a:r>
              <a:rPr dirty="0" sz="1500" spc="-3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of</a:t>
            </a:r>
            <a:r>
              <a:rPr dirty="0" sz="1500" spc="-5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Search</a:t>
            </a:r>
            <a:r>
              <a:rPr dirty="0" sz="1500" spc="-3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Scenarios</a:t>
            </a:r>
            <a:r>
              <a:rPr dirty="0" sz="1500" spc="-5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in</a:t>
            </a:r>
            <a:r>
              <a:rPr dirty="0" sz="1500" spc="-4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Data</a:t>
            </a:r>
            <a:r>
              <a:rPr dirty="0" sz="1500" spc="-3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Lakes:</a:t>
            </a:r>
            <a:r>
              <a:rPr dirty="0" sz="1500" spc="-1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Uncovering</a:t>
            </a:r>
            <a:r>
              <a:rPr dirty="0" sz="1500" spc="-5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Insights</a:t>
            </a:r>
            <a:r>
              <a:rPr dirty="0" sz="1500" spc="-5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and</a:t>
            </a:r>
            <a:r>
              <a:rPr dirty="0" sz="1500" spc="-50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Patterns</a:t>
            </a:r>
            <a:endParaRPr sz="1500">
              <a:latin typeface="Times New Roman"/>
              <a:cs typeface="Times New Roman"/>
            </a:endParaRPr>
          </a:p>
          <a:p>
            <a:pPr marL="241300" marR="107950" indent="-228600">
              <a:lnSpc>
                <a:spcPts val="162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 spc="-10">
                <a:latin typeface="Times New Roman"/>
                <a:cs typeface="Times New Roman"/>
              </a:rPr>
              <a:t>Customer</a:t>
            </a:r>
            <a:r>
              <a:rPr dirty="0" sz="1500" spc="-8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Analytics: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Identifying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customer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transactions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with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specific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purchase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patterns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understand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customer </a:t>
            </a:r>
            <a:r>
              <a:rPr dirty="0" sz="1500">
                <a:latin typeface="Times New Roman"/>
                <a:cs typeface="Times New Roman"/>
              </a:rPr>
              <a:t>behavior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preferences.</a:t>
            </a:r>
            <a:endParaRPr sz="1500">
              <a:latin typeface="Times New Roman"/>
              <a:cs typeface="Times New Roman"/>
            </a:endParaRPr>
          </a:p>
          <a:p>
            <a:pPr marL="240665" indent="-227965">
              <a:lnSpc>
                <a:spcPts val="1710"/>
              </a:lnSpc>
              <a:spcBef>
                <a:spcPts val="80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500">
                <a:latin typeface="Times New Roman"/>
                <a:cs typeface="Times New Roman"/>
              </a:rPr>
              <a:t>Fraud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Detection: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Detecting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fraudulent</a:t>
            </a:r>
            <a:r>
              <a:rPr dirty="0" sz="1500" spc="-6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activities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financial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transactions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by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flagging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anomalies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outliers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 spc="-25">
                <a:latin typeface="Times New Roman"/>
                <a:cs typeface="Times New Roman"/>
              </a:rPr>
              <a:t>in</a:t>
            </a:r>
            <a:endParaRPr sz="1500">
              <a:latin typeface="Times New Roman"/>
              <a:cs typeface="Times New Roman"/>
            </a:endParaRPr>
          </a:p>
          <a:p>
            <a:pPr marL="241300">
              <a:lnSpc>
                <a:spcPts val="1710"/>
              </a:lnSpc>
            </a:pP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streams.</a:t>
            </a:r>
            <a:endParaRPr sz="1500">
              <a:latin typeface="Times New Roman"/>
              <a:cs typeface="Times New Roman"/>
            </a:endParaRPr>
          </a:p>
          <a:p>
            <a:pPr marL="241300" marR="644525" indent="-228600">
              <a:lnSpc>
                <a:spcPts val="162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>
                <a:latin typeface="Times New Roman"/>
                <a:cs typeface="Times New Roman"/>
              </a:rPr>
              <a:t>Social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Media</a:t>
            </a:r>
            <a:r>
              <a:rPr dirty="0" sz="1500" spc="-9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Analysis: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Uncovering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trends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patterns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social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media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gain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insights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into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public </a:t>
            </a:r>
            <a:r>
              <a:rPr dirty="0" sz="1500">
                <a:latin typeface="Times New Roman"/>
                <a:cs typeface="Times New Roman"/>
              </a:rPr>
              <a:t>sentiment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market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trends.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41592" y="816863"/>
            <a:ext cx="5225796" cy="52242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2220" y="0"/>
              <a:ext cx="9669780" cy="6857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7389876" cy="6858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615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100"/>
              <a:t>Quantum</a:t>
            </a:r>
            <a:r>
              <a:rPr dirty="0" sz="3100" spc="-90"/>
              <a:t> </a:t>
            </a:r>
            <a:r>
              <a:rPr dirty="0" sz="3100"/>
              <a:t>vs.</a:t>
            </a:r>
            <a:r>
              <a:rPr dirty="0" sz="3100" spc="-35"/>
              <a:t> </a:t>
            </a:r>
            <a:r>
              <a:rPr dirty="0" sz="3100"/>
              <a:t>Classical</a:t>
            </a:r>
            <a:r>
              <a:rPr dirty="0" sz="3100" spc="-30"/>
              <a:t> </a:t>
            </a:r>
            <a:r>
              <a:rPr dirty="0" sz="3100" spc="-10"/>
              <a:t>Search:</a:t>
            </a:r>
            <a:r>
              <a:rPr dirty="0" sz="3100" spc="-180"/>
              <a:t> </a:t>
            </a:r>
            <a:r>
              <a:rPr dirty="0" sz="3100" spc="-30"/>
              <a:t>A</a:t>
            </a:r>
            <a:r>
              <a:rPr dirty="0" sz="3100" spc="-175"/>
              <a:t> </a:t>
            </a:r>
            <a:r>
              <a:rPr dirty="0" sz="3100" spc="-20"/>
              <a:t>Comparative</a:t>
            </a:r>
            <a:r>
              <a:rPr dirty="0" sz="3100" spc="-175"/>
              <a:t> </a:t>
            </a:r>
            <a:r>
              <a:rPr dirty="0" sz="3100" spc="-10"/>
              <a:t>Analysis</a:t>
            </a:r>
            <a:endParaRPr sz="3100"/>
          </a:p>
        </p:txBody>
      </p:sp>
      <p:sp>
        <p:nvSpPr>
          <p:cNvPr id="6" name="object 6" descr=""/>
          <p:cNvSpPr txBox="1"/>
          <p:nvPr/>
        </p:nvSpPr>
        <p:spPr>
          <a:xfrm>
            <a:off x="916939" y="2335148"/>
            <a:ext cx="9999345" cy="122872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1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 b="1">
                <a:latin typeface="Times New Roman"/>
                <a:cs typeface="Times New Roman"/>
              </a:rPr>
              <a:t>Comparison</a:t>
            </a:r>
            <a:r>
              <a:rPr dirty="0" sz="1500" spc="-4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of</a:t>
            </a:r>
            <a:r>
              <a:rPr dirty="0" sz="1500" spc="-4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Search</a:t>
            </a:r>
            <a:r>
              <a:rPr dirty="0" sz="1500" spc="-3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Efficiency:</a:t>
            </a:r>
            <a:r>
              <a:rPr dirty="0" sz="1500" spc="-50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Quantum</a:t>
            </a:r>
            <a:r>
              <a:rPr dirty="0" sz="1500" spc="-10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Advantage</a:t>
            </a:r>
            <a:r>
              <a:rPr dirty="0" sz="1500" spc="-6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at</a:t>
            </a:r>
            <a:r>
              <a:rPr dirty="0" sz="1500" spc="-2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Large</a:t>
            </a:r>
            <a:r>
              <a:rPr dirty="0" sz="1500" spc="-35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Scale</a:t>
            </a:r>
            <a:endParaRPr sz="15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81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>
                <a:latin typeface="Times New Roman"/>
                <a:cs typeface="Times New Roman"/>
              </a:rPr>
              <a:t>Grover's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algorithm</a:t>
            </a:r>
            <a:r>
              <a:rPr dirty="0" sz="1500" spc="-6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offers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significant</a:t>
            </a:r>
            <a:r>
              <a:rPr dirty="0" sz="1500" spc="-6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advantage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over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classical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search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algorithms,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particularly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for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large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datasets.</a:t>
            </a:r>
            <a:endParaRPr sz="1500">
              <a:latin typeface="Times New Roman"/>
              <a:cs typeface="Times New Roman"/>
            </a:endParaRPr>
          </a:p>
          <a:p>
            <a:pPr marL="241300" indent="-228600">
              <a:lnSpc>
                <a:spcPts val="1710"/>
              </a:lnSpc>
              <a:spcBef>
                <a:spcPts val="81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>
                <a:latin typeface="Times New Roman"/>
                <a:cs typeface="Times New Roman"/>
              </a:rPr>
              <a:t>While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classical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algorithms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have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time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complexity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O(N)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for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finding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item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unsorted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list,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Grover's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algorithm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achieves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 spc="-50">
                <a:latin typeface="Times New Roman"/>
                <a:cs typeface="Times New Roman"/>
              </a:rPr>
              <a:t>a</a:t>
            </a:r>
            <a:endParaRPr sz="1500">
              <a:latin typeface="Times New Roman"/>
              <a:cs typeface="Times New Roman"/>
            </a:endParaRPr>
          </a:p>
          <a:p>
            <a:pPr marL="241300">
              <a:lnSpc>
                <a:spcPts val="1710"/>
              </a:lnSpc>
            </a:pPr>
            <a:r>
              <a:rPr dirty="0" sz="1500">
                <a:latin typeface="Times New Roman"/>
                <a:cs typeface="Times New Roman"/>
              </a:rPr>
              <a:t>remarkable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O(√N)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time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complexity.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16939" y="3643121"/>
            <a:ext cx="99466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>
                <a:latin typeface="Times New Roman"/>
                <a:cs typeface="Times New Roman"/>
              </a:rPr>
              <a:t>This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means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that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Grover's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algorithm's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search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time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grows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at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much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slower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rate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compared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classical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algorithms,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making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it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 spc="-20">
                <a:latin typeface="Times New Roman"/>
                <a:cs typeface="Times New Roman"/>
              </a:rPr>
              <a:t>more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16939" y="3745229"/>
            <a:ext cx="10055225" cy="1356360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15"/>
              </a:spcBef>
            </a:pPr>
            <a:r>
              <a:rPr dirty="0" sz="1500">
                <a:latin typeface="Times New Roman"/>
                <a:cs typeface="Times New Roman"/>
              </a:rPr>
              <a:t>efficient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for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large-</a:t>
            </a:r>
            <a:r>
              <a:rPr dirty="0" sz="1500">
                <a:latin typeface="Times New Roman"/>
                <a:cs typeface="Times New Roman"/>
              </a:rPr>
              <a:t>scale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retrieval.</a:t>
            </a:r>
            <a:endParaRPr sz="15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81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 b="1">
                <a:latin typeface="Times New Roman"/>
                <a:cs typeface="Times New Roman"/>
              </a:rPr>
              <a:t>Reduced</a:t>
            </a:r>
            <a:r>
              <a:rPr dirty="0" sz="1500" spc="-10" b="1">
                <a:latin typeface="Times New Roman"/>
                <a:cs typeface="Times New Roman"/>
              </a:rPr>
              <a:t> Computational</a:t>
            </a:r>
            <a:r>
              <a:rPr dirty="0" sz="1500" spc="-4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Overhead:</a:t>
            </a:r>
            <a:r>
              <a:rPr dirty="0" sz="1500" spc="-3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Optimizing</a:t>
            </a:r>
            <a:r>
              <a:rPr dirty="0" sz="1500" spc="-35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Resource</a:t>
            </a:r>
            <a:r>
              <a:rPr dirty="0" sz="1500" spc="-25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Utilization</a:t>
            </a:r>
            <a:endParaRPr sz="15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81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>
                <a:latin typeface="Times New Roman"/>
                <a:cs typeface="Times New Roman"/>
              </a:rPr>
              <a:t>Grover's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algorithm</a:t>
            </a:r>
            <a:r>
              <a:rPr dirty="0" sz="1500" spc="-6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requires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fewer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computational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resources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compared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classical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search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algorithms,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especially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for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large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datasets.</a:t>
            </a:r>
            <a:endParaRPr sz="15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83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>
                <a:latin typeface="Times New Roman"/>
                <a:cs typeface="Times New Roman"/>
              </a:rPr>
              <a:t>This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reduces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overall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computational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overhead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improves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system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efficiency,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allowing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for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faster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processing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analysis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 spc="-25">
                <a:latin typeface="Times New Roman"/>
                <a:cs typeface="Times New Roman"/>
              </a:rPr>
              <a:t>of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16939" y="4949444"/>
            <a:ext cx="9883775" cy="1688464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15"/>
              </a:spcBef>
            </a:pPr>
            <a:r>
              <a:rPr dirty="0" sz="1500">
                <a:latin typeface="Times New Roman"/>
                <a:cs typeface="Times New Roman"/>
              </a:rPr>
              <a:t>large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amounts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data.</a:t>
            </a:r>
            <a:endParaRPr sz="15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81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 spc="-20" b="1">
                <a:latin typeface="Times New Roman"/>
                <a:cs typeface="Times New Roman"/>
              </a:rPr>
              <a:t>Versatility</a:t>
            </a:r>
            <a:r>
              <a:rPr dirty="0" sz="1500" spc="-7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for</a:t>
            </a:r>
            <a:r>
              <a:rPr dirty="0" sz="1500" spc="-5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Diverse</a:t>
            </a:r>
            <a:r>
              <a:rPr dirty="0" sz="1500" spc="-1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Data</a:t>
            </a:r>
            <a:r>
              <a:rPr dirty="0" sz="1500" spc="-50" b="1">
                <a:latin typeface="Times New Roman"/>
                <a:cs typeface="Times New Roman"/>
              </a:rPr>
              <a:t> </a:t>
            </a:r>
            <a:r>
              <a:rPr dirty="0" sz="1500" spc="-20" b="1">
                <a:latin typeface="Times New Roman"/>
                <a:cs typeface="Times New Roman"/>
              </a:rPr>
              <a:t>Types </a:t>
            </a:r>
            <a:r>
              <a:rPr dirty="0" sz="1500" b="1">
                <a:latin typeface="Times New Roman"/>
                <a:cs typeface="Times New Roman"/>
              </a:rPr>
              <a:t>and</a:t>
            </a:r>
            <a:r>
              <a:rPr dirty="0" sz="1500" spc="-3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Search</a:t>
            </a:r>
            <a:r>
              <a:rPr dirty="0" sz="1500" spc="-15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Queries:</a:t>
            </a:r>
            <a:r>
              <a:rPr dirty="0" sz="1500" spc="-8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Adaptability</a:t>
            </a:r>
            <a:r>
              <a:rPr dirty="0" sz="1500" spc="-50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and</a:t>
            </a:r>
            <a:r>
              <a:rPr dirty="0" sz="1500" spc="-95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Applicability</a:t>
            </a:r>
            <a:endParaRPr sz="15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81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>
                <a:latin typeface="Times New Roman"/>
                <a:cs typeface="Times New Roman"/>
              </a:rPr>
              <a:t>Grover's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algorithm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is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versatile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can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be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applied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search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for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various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types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handle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diverse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search</a:t>
            </a:r>
            <a:r>
              <a:rPr dirty="0" sz="1500" spc="-10">
                <a:latin typeface="Times New Roman"/>
                <a:cs typeface="Times New Roman"/>
              </a:rPr>
              <a:t> queries.</a:t>
            </a:r>
            <a:endParaRPr sz="15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83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>
                <a:latin typeface="Times New Roman"/>
                <a:cs typeface="Times New Roman"/>
              </a:rPr>
              <a:t>It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can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effectively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search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for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specific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points,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identify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anomalies,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detect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patterns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across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wide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range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formats.</a:t>
            </a:r>
            <a:endParaRPr sz="15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81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>
                <a:latin typeface="Times New Roman"/>
                <a:cs typeface="Times New Roman"/>
              </a:rPr>
              <a:t>This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adaptability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makes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Grover's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algorithm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valuable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tool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for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lake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optimization,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enabling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it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address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variety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search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45844" y="6589572"/>
            <a:ext cx="19157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latin typeface="Times New Roman"/>
                <a:cs typeface="Times New Roman"/>
              </a:rPr>
              <a:t>scenarios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types.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77238" y="1054734"/>
            <a:ext cx="8409940" cy="1300480"/>
          </a:xfrm>
          <a:prstGeom prst="rect"/>
        </p:spPr>
        <p:txBody>
          <a:bodyPr wrap="square" lIns="0" tIns="89535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>
                <a:solidFill>
                  <a:srgbClr val="FFFFFF"/>
                </a:solidFill>
              </a:rPr>
              <a:t>Advantages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of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Grover's</a:t>
            </a:r>
            <a:r>
              <a:rPr dirty="0" spc="-26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Algorithm:</a:t>
            </a:r>
            <a:r>
              <a:rPr dirty="0" spc="-250">
                <a:solidFill>
                  <a:srgbClr val="FFFFFF"/>
                </a:solidFill>
              </a:rPr>
              <a:t> </a:t>
            </a:r>
            <a:r>
              <a:rPr dirty="0" spc="-50">
                <a:solidFill>
                  <a:srgbClr val="FFFFFF"/>
                </a:solidFill>
              </a:rPr>
              <a:t>A </a:t>
            </a:r>
            <a:r>
              <a:rPr dirty="0">
                <a:solidFill>
                  <a:srgbClr val="FFFFFF"/>
                </a:solidFill>
              </a:rPr>
              <a:t>Summary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of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Key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Benefits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277238" y="2968497"/>
            <a:ext cx="8697595" cy="3415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Improved</a:t>
            </a:r>
            <a:r>
              <a:rPr dirty="0" sz="1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Search</a:t>
            </a:r>
            <a:r>
              <a:rPr dirty="0" sz="1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Efficiency</a:t>
            </a:r>
            <a:r>
              <a:rPr dirty="0" sz="12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2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dirty="0" sz="1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Datasets:</a:t>
            </a:r>
            <a:r>
              <a:rPr dirty="0" sz="12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Faster</a:t>
            </a:r>
            <a:r>
              <a:rPr dirty="0" sz="12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12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Retrieval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Grover's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algorithm</a:t>
            </a:r>
            <a:r>
              <a:rPr dirty="0" sz="12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offers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2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significant</a:t>
            </a:r>
            <a:r>
              <a:rPr dirty="0" sz="12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improvement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12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search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efficiency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2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datasets</a:t>
            </a:r>
            <a:r>
              <a:rPr dirty="0" sz="12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compared</a:t>
            </a:r>
            <a:r>
              <a:rPr dirty="0" sz="12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2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classical</a:t>
            </a:r>
            <a:r>
              <a:rPr dirty="0" sz="12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algorithms.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5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dirty="0" sz="12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complexity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O(√N)</a:t>
            </a:r>
            <a:r>
              <a:rPr dirty="0" sz="12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allows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2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faster</a:t>
            </a:r>
            <a:r>
              <a:rPr dirty="0" sz="12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12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retrieval, enabling</a:t>
            </a:r>
            <a:r>
              <a:rPr dirty="0" sz="12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quicker</a:t>
            </a:r>
            <a:r>
              <a:rPr dirty="0" sz="12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access to</a:t>
            </a:r>
            <a:r>
              <a:rPr dirty="0" sz="12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relevant information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dirty="0" sz="12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massive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12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lakes.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6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dirty="0" sz="12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accelerated</a:t>
            </a:r>
            <a:r>
              <a:rPr dirty="0" sz="12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search</a:t>
            </a:r>
            <a:r>
              <a:rPr dirty="0" sz="12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dirty="0" sz="12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streamlines</a:t>
            </a:r>
            <a:r>
              <a:rPr dirty="0" sz="12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12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r>
              <a:rPr dirty="0" sz="12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decision-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making processes,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leading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2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dirty="0" sz="12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timely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insights</a:t>
            </a:r>
            <a:r>
              <a:rPr dirty="0" sz="12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actions.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5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Reduced</a:t>
            </a:r>
            <a:r>
              <a:rPr dirty="0" sz="1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Computational</a:t>
            </a:r>
            <a:r>
              <a:rPr dirty="0" sz="1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Overhead:</a:t>
            </a:r>
            <a:r>
              <a:rPr dirty="0" sz="1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Cost-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Effective</a:t>
            </a:r>
            <a:r>
              <a:rPr dirty="0" sz="1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1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Processing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5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Grover's</a:t>
            </a:r>
            <a:r>
              <a:rPr dirty="0" sz="12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algorithm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minimizes</a:t>
            </a:r>
            <a:r>
              <a:rPr dirty="0" sz="12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computational</a:t>
            </a:r>
            <a:r>
              <a:rPr dirty="0" sz="12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overhead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dirty="0" sz="12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requiring</a:t>
            </a:r>
            <a:r>
              <a:rPr dirty="0" sz="12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fewer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resources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compared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2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classical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search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algorithms.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dirty="0" sz="12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reduces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overall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cost</a:t>
            </a:r>
            <a:r>
              <a:rPr dirty="0" sz="12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12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processing,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making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economical</a:t>
            </a:r>
            <a:r>
              <a:rPr dirty="0" sz="12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solution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handling</a:t>
            </a:r>
            <a:r>
              <a:rPr dirty="0" sz="12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large-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scale</a:t>
            </a:r>
            <a:r>
              <a:rPr dirty="0" sz="12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12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retrieval and</a:t>
            </a:r>
            <a:r>
              <a:rPr dirty="0" sz="12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analysis.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dirty="0" sz="12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optimizing</a:t>
            </a:r>
            <a:r>
              <a:rPr dirty="0" sz="12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resource</a:t>
            </a:r>
            <a:r>
              <a:rPr dirty="0" sz="12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utilization,</a:t>
            </a:r>
            <a:r>
              <a:rPr dirty="0" sz="12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Grover's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algorithm</a:t>
            </a:r>
            <a:r>
              <a:rPr dirty="0" sz="12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contributes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2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cost-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effective data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management</a:t>
            </a:r>
            <a:r>
              <a:rPr dirty="0" sz="12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2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analysis.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Versatility</a:t>
            </a:r>
            <a:r>
              <a:rPr dirty="0" sz="1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2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Diverse</a:t>
            </a:r>
            <a:r>
              <a:rPr dirty="0" sz="1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12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Times New Roman"/>
                <a:cs typeface="Times New Roman"/>
              </a:rPr>
              <a:t>Types</a:t>
            </a:r>
            <a:r>
              <a:rPr dirty="0" sz="12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Search</a:t>
            </a:r>
            <a:r>
              <a:rPr dirty="0" sz="1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imes New Roman"/>
                <a:cs typeface="Times New Roman"/>
              </a:rPr>
              <a:t>Queries:</a:t>
            </a:r>
            <a:r>
              <a:rPr dirty="0" sz="1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Broad</a:t>
            </a:r>
            <a:r>
              <a:rPr dirty="0" sz="12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Applicability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Grover's</a:t>
            </a:r>
            <a:r>
              <a:rPr dirty="0" sz="12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algorithm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versatile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applied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wide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range of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types</a:t>
            </a:r>
            <a:r>
              <a:rPr dirty="0" sz="12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search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queries.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5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dirty="0" sz="12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ability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2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handle</a:t>
            </a:r>
            <a:r>
              <a:rPr dirty="0" sz="12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12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formats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search</a:t>
            </a:r>
            <a:r>
              <a:rPr dirty="0" sz="12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requirements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makes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2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valuable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tool</a:t>
            </a:r>
            <a:r>
              <a:rPr dirty="0" sz="12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2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various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lake</a:t>
            </a:r>
            <a:r>
              <a:rPr dirty="0" sz="12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optimization</a:t>
            </a:r>
            <a:r>
              <a:rPr dirty="0" sz="12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tasks.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dirty="0" sz="12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versatility</a:t>
            </a:r>
            <a:r>
              <a:rPr dirty="0" sz="12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expands</a:t>
            </a:r>
            <a:r>
              <a:rPr dirty="0" sz="12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scope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12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Grover's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algorithm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enhances</a:t>
            </a:r>
            <a:r>
              <a:rPr dirty="0" sz="12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dirty="0" sz="12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applicability</a:t>
            </a:r>
            <a:r>
              <a:rPr dirty="0" sz="12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12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management</a:t>
            </a:r>
            <a:r>
              <a:rPr dirty="0" sz="12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analysis.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Challenges</a:t>
            </a:r>
            <a:r>
              <a:rPr dirty="0" spc="-45"/>
              <a:t> </a:t>
            </a:r>
            <a:r>
              <a:rPr dirty="0"/>
              <a:t>and Future</a:t>
            </a:r>
            <a:r>
              <a:rPr dirty="0" spc="-20"/>
              <a:t> </a:t>
            </a:r>
            <a:r>
              <a:rPr dirty="0"/>
              <a:t>Directions:</a:t>
            </a:r>
            <a:r>
              <a:rPr dirty="0" spc="-270"/>
              <a:t> </a:t>
            </a:r>
            <a:r>
              <a:rPr dirty="0" spc="-10"/>
              <a:t>Addressing </a:t>
            </a:r>
            <a:r>
              <a:rPr dirty="0"/>
              <a:t>Limitations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Exploring</a:t>
            </a:r>
            <a:r>
              <a:rPr dirty="0" spc="-35"/>
              <a:t> </a:t>
            </a:r>
            <a:r>
              <a:rPr dirty="0" spc="-10"/>
              <a:t>Potential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916939" y="1816354"/>
            <a:ext cx="10073005" cy="431609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241300" marR="501015" indent="-229235">
              <a:lnSpc>
                <a:spcPts val="2380"/>
              </a:lnSpc>
              <a:spcBef>
                <a:spcPts val="39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 b="1">
                <a:latin typeface="Times New Roman"/>
                <a:cs typeface="Times New Roman"/>
              </a:rPr>
              <a:t>Limitations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Current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Quantum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Computing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Hardware: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Scalability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Noise Sensitivity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ts val="2510"/>
              </a:lnSpc>
              <a:spcBef>
                <a:spcPts val="69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Times New Roman"/>
                <a:cs typeface="Times New Roman"/>
              </a:rPr>
              <a:t>Current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quantum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computing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hardware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faces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limitations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terms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scalability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noise</a:t>
            </a:r>
            <a:endParaRPr sz="2200">
              <a:latin typeface="Times New Roman"/>
              <a:cs typeface="Times New Roman"/>
            </a:endParaRPr>
          </a:p>
          <a:p>
            <a:pPr marL="241300">
              <a:lnSpc>
                <a:spcPts val="2510"/>
              </a:lnSpc>
            </a:pPr>
            <a:r>
              <a:rPr dirty="0" sz="2200" spc="-10">
                <a:latin typeface="Times New Roman"/>
                <a:cs typeface="Times New Roman"/>
              </a:rPr>
              <a:t>sensitivity,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posing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challenges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practical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implementation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Grover's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algorithm.</a:t>
            </a:r>
            <a:endParaRPr sz="2200">
              <a:latin typeface="Times New Roman"/>
              <a:cs typeface="Times New Roman"/>
            </a:endParaRPr>
          </a:p>
          <a:p>
            <a:pPr marL="241300" marR="257175" indent="-229235">
              <a:lnSpc>
                <a:spcPts val="238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Times New Roman"/>
                <a:cs typeface="Times New Roman"/>
              </a:rPr>
              <a:t>Scaling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quantum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computers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handle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large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datasets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remains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challenge,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noise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in </a:t>
            </a:r>
            <a:r>
              <a:rPr dirty="0" sz="2200">
                <a:latin typeface="Times New Roman"/>
                <a:cs typeface="Times New Roman"/>
              </a:rPr>
              <a:t>quantum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systems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can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affect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accuracy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search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operations.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ts val="2510"/>
              </a:lnSpc>
              <a:spcBef>
                <a:spcPts val="6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Times New Roman"/>
                <a:cs typeface="Times New Roman"/>
              </a:rPr>
              <a:t>Ongoing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research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development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efforts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aim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address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these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limitations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improve</a:t>
            </a:r>
            <a:endParaRPr sz="2200">
              <a:latin typeface="Times New Roman"/>
              <a:cs typeface="Times New Roman"/>
            </a:endParaRPr>
          </a:p>
          <a:p>
            <a:pPr marL="241300">
              <a:lnSpc>
                <a:spcPts val="2510"/>
              </a:lnSpc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performance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scalability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quantum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hardware.</a:t>
            </a:r>
            <a:endParaRPr sz="2200">
              <a:latin typeface="Times New Roman"/>
              <a:cs typeface="Times New Roman"/>
            </a:endParaRPr>
          </a:p>
          <a:p>
            <a:pPr marL="241300" marR="1012825" indent="-229235">
              <a:lnSpc>
                <a:spcPts val="238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 b="1">
                <a:latin typeface="Times New Roman"/>
                <a:cs typeface="Times New Roman"/>
              </a:rPr>
              <a:t>Ongoing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Research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Development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Quantum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Computing:</a:t>
            </a:r>
            <a:r>
              <a:rPr dirty="0" sz="2200" spc="-11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Theoretical Advancements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Experimental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Progress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ts val="251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field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quantum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computing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rapidly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advancing,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continuous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theoretical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241300">
              <a:lnSpc>
                <a:spcPts val="2510"/>
              </a:lnSpc>
            </a:pPr>
            <a:r>
              <a:rPr dirty="0" sz="2200">
                <a:latin typeface="Times New Roman"/>
                <a:cs typeface="Times New Roman"/>
              </a:rPr>
              <a:t>experimental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progress.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Challenges</a:t>
            </a:r>
            <a:r>
              <a:rPr dirty="0" spc="-45"/>
              <a:t> </a:t>
            </a:r>
            <a:r>
              <a:rPr dirty="0"/>
              <a:t>and Future</a:t>
            </a:r>
            <a:r>
              <a:rPr dirty="0" spc="-20"/>
              <a:t> </a:t>
            </a:r>
            <a:r>
              <a:rPr dirty="0"/>
              <a:t>Directions:</a:t>
            </a:r>
            <a:r>
              <a:rPr dirty="0" spc="-270"/>
              <a:t> </a:t>
            </a:r>
            <a:r>
              <a:rPr dirty="0" spc="-10"/>
              <a:t>Addressing </a:t>
            </a:r>
            <a:r>
              <a:rPr dirty="0"/>
              <a:t>Limitations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Exploring</a:t>
            </a:r>
            <a:r>
              <a:rPr dirty="0" spc="-35"/>
              <a:t> </a:t>
            </a:r>
            <a:r>
              <a:rPr dirty="0" spc="-10"/>
              <a:t>Potential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800100" y="1773923"/>
            <a:ext cx="10643235" cy="3832225"/>
            <a:chOff x="800100" y="1773923"/>
            <a:chExt cx="10643235" cy="3832225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100" y="1792211"/>
              <a:ext cx="336042" cy="44883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9556" y="1773923"/>
              <a:ext cx="10423398" cy="48083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9556" y="2020811"/>
              <a:ext cx="9202674" cy="48083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100" y="2412479"/>
              <a:ext cx="336042" cy="44883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9556" y="2394191"/>
              <a:ext cx="10277094" cy="48083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9556" y="2641079"/>
              <a:ext cx="7733538" cy="48083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100" y="3034271"/>
              <a:ext cx="336042" cy="44883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9556" y="3015983"/>
              <a:ext cx="8862822" cy="48083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19556" y="3262871"/>
              <a:ext cx="4865370" cy="48083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100" y="3654539"/>
              <a:ext cx="336042" cy="44883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9556" y="3636251"/>
              <a:ext cx="10420350" cy="48083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9556" y="3883139"/>
              <a:ext cx="6692646" cy="48083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100" y="4274807"/>
              <a:ext cx="336042" cy="44883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19556" y="4256519"/>
              <a:ext cx="9658350" cy="48083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19556" y="4503407"/>
              <a:ext cx="7765542" cy="480834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100" y="4896599"/>
              <a:ext cx="336042" cy="44883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19556" y="4878311"/>
              <a:ext cx="9124950" cy="480834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9556" y="5125199"/>
              <a:ext cx="6860285" cy="48083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604759" y="5125199"/>
              <a:ext cx="357390" cy="480834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687056" y="5125199"/>
              <a:ext cx="1850898" cy="480834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262871" y="5125199"/>
              <a:ext cx="357390" cy="480834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345168" y="5125199"/>
              <a:ext cx="1565909" cy="480834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916939" y="1823973"/>
            <a:ext cx="10310495" cy="389890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241300" marR="5080" indent="-229235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800" b="1">
                <a:latin typeface="Times New Roman"/>
                <a:cs typeface="Times New Roman"/>
              </a:rPr>
              <a:t>Researchers</a:t>
            </a:r>
            <a:r>
              <a:rPr dirty="0" sz="1800" spc="36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are</a:t>
            </a:r>
            <a:r>
              <a:rPr dirty="0" sz="1800" spc="35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developing</a:t>
            </a:r>
            <a:r>
              <a:rPr dirty="0" sz="1800" spc="37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new</a:t>
            </a:r>
            <a:r>
              <a:rPr dirty="0" sz="1800" spc="3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quantum</a:t>
            </a:r>
            <a:r>
              <a:rPr dirty="0" sz="1800" spc="409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algorithms,</a:t>
            </a:r>
            <a:r>
              <a:rPr dirty="0" sz="1800" spc="35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including</a:t>
            </a:r>
            <a:r>
              <a:rPr dirty="0" sz="1800" spc="37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variations</a:t>
            </a:r>
            <a:r>
              <a:rPr dirty="0" sz="1800" spc="36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3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Grover's</a:t>
            </a:r>
            <a:r>
              <a:rPr dirty="0" sz="1800" spc="34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algorithm, </a:t>
            </a:r>
            <a:r>
              <a:rPr dirty="0" sz="1800" b="1">
                <a:latin typeface="Times New Roman"/>
                <a:cs typeface="Times New Roman"/>
              </a:rPr>
              <a:t>to</a:t>
            </a:r>
            <a:r>
              <a:rPr dirty="0" sz="1800" spc="27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optimize</a:t>
            </a:r>
            <a:r>
              <a:rPr dirty="0" sz="1800" spc="3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search</a:t>
            </a:r>
            <a:r>
              <a:rPr dirty="0" sz="1800" spc="30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efficiency</a:t>
            </a:r>
            <a:r>
              <a:rPr dirty="0" sz="1800" spc="27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30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address</a:t>
            </a:r>
            <a:r>
              <a:rPr dirty="0" sz="1800" spc="3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specific</a:t>
            </a:r>
            <a:r>
              <a:rPr dirty="0" sz="1800" spc="29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challenges</a:t>
            </a:r>
            <a:r>
              <a:rPr dirty="0" sz="1800" spc="30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in</a:t>
            </a:r>
            <a:r>
              <a:rPr dirty="0" sz="1800" spc="28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data</a:t>
            </a:r>
            <a:r>
              <a:rPr dirty="0" sz="1800" spc="29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lake</a:t>
            </a:r>
            <a:r>
              <a:rPr dirty="0" sz="1800" spc="29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optimization.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ts val="2050"/>
              </a:lnSpc>
              <a:spcBef>
                <a:spcPts val="75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800" b="1">
                <a:latin typeface="Times New Roman"/>
                <a:cs typeface="Times New Roman"/>
              </a:rPr>
              <a:t>Experimental</a:t>
            </a:r>
            <a:r>
              <a:rPr dirty="0" sz="1800" spc="3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progress</a:t>
            </a:r>
            <a:r>
              <a:rPr dirty="0" sz="1800" spc="30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in</a:t>
            </a:r>
            <a:r>
              <a:rPr dirty="0" sz="1800" spc="28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quantum</a:t>
            </a:r>
            <a:r>
              <a:rPr dirty="0" sz="1800" spc="3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hardware</a:t>
            </a:r>
            <a:r>
              <a:rPr dirty="0" sz="1800" spc="30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is</a:t>
            </a:r>
            <a:r>
              <a:rPr dirty="0" sz="1800" spc="28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also</a:t>
            </a:r>
            <a:r>
              <a:rPr dirty="0" sz="1800" spc="29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ongoing,</a:t>
            </a:r>
            <a:r>
              <a:rPr dirty="0" sz="1800" spc="3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with</a:t>
            </a:r>
            <a:r>
              <a:rPr dirty="0" sz="1800" spc="27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efforts</a:t>
            </a:r>
            <a:r>
              <a:rPr dirty="0" sz="1800" spc="28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to</a:t>
            </a:r>
            <a:r>
              <a:rPr dirty="0" sz="1800" spc="29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enhance</a:t>
            </a:r>
            <a:r>
              <a:rPr dirty="0" sz="1800" spc="31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scalability,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ts val="2050"/>
              </a:lnSpc>
            </a:pPr>
            <a:r>
              <a:rPr dirty="0" sz="1800" b="1">
                <a:latin typeface="Times New Roman"/>
                <a:cs typeface="Times New Roman"/>
              </a:rPr>
              <a:t>reduce</a:t>
            </a:r>
            <a:r>
              <a:rPr dirty="0" sz="1800" spc="27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noise,</a:t>
            </a:r>
            <a:r>
              <a:rPr dirty="0" sz="1800" spc="29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28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improve</a:t>
            </a:r>
            <a:r>
              <a:rPr dirty="0" sz="1800" spc="29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the</a:t>
            </a:r>
            <a:r>
              <a:rPr dirty="0" sz="1800" spc="28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overall</a:t>
            </a:r>
            <a:r>
              <a:rPr dirty="0" sz="1800" spc="26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performance</a:t>
            </a:r>
            <a:r>
              <a:rPr dirty="0" sz="1800" spc="29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28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quantum</a:t>
            </a:r>
            <a:r>
              <a:rPr dirty="0" sz="1800" spc="31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systems.</a:t>
            </a:r>
            <a:endParaRPr sz="1800">
              <a:latin typeface="Times New Roman"/>
              <a:cs typeface="Times New Roman"/>
            </a:endParaRPr>
          </a:p>
          <a:p>
            <a:pPr marL="241300" marR="1558925" indent="-229235">
              <a:lnSpc>
                <a:spcPts val="1939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800" b="1">
                <a:latin typeface="Times New Roman"/>
                <a:cs typeface="Times New Roman"/>
              </a:rPr>
              <a:t>Potential</a:t>
            </a:r>
            <a:r>
              <a:rPr dirty="0" sz="1800" spc="29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Impact</a:t>
            </a:r>
            <a:r>
              <a:rPr dirty="0" sz="1800" spc="3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29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Grover's</a:t>
            </a:r>
            <a:r>
              <a:rPr dirty="0" sz="1800" spc="15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Algorithm</a:t>
            </a:r>
            <a:r>
              <a:rPr dirty="0" sz="1800" spc="3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on</a:t>
            </a:r>
            <a:r>
              <a:rPr dirty="0" sz="1800" spc="28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Data</a:t>
            </a:r>
            <a:r>
              <a:rPr dirty="0" sz="1800" spc="3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Lake</a:t>
            </a:r>
            <a:r>
              <a:rPr dirty="0" sz="1800" spc="30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Management</a:t>
            </a:r>
            <a:r>
              <a:rPr dirty="0" sz="1800" spc="3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17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Analytics: </a:t>
            </a:r>
            <a:r>
              <a:rPr dirty="0" sz="1800" b="1">
                <a:latin typeface="Times New Roman"/>
                <a:cs typeface="Times New Roman"/>
              </a:rPr>
              <a:t>Revolutionizing</a:t>
            </a:r>
            <a:r>
              <a:rPr dirty="0" sz="1800" spc="45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Data</a:t>
            </a:r>
            <a:r>
              <a:rPr dirty="0" sz="1800" spc="38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Retrieval</a:t>
            </a:r>
            <a:r>
              <a:rPr dirty="0" sz="1800" spc="39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25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Analysis</a:t>
            </a:r>
            <a:endParaRPr sz="1800">
              <a:latin typeface="Times New Roman"/>
              <a:cs typeface="Times New Roman"/>
            </a:endParaRPr>
          </a:p>
          <a:p>
            <a:pPr marL="241300" marR="5080" indent="-229235">
              <a:lnSpc>
                <a:spcPts val="1939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800" b="1">
                <a:latin typeface="Times New Roman"/>
                <a:cs typeface="Times New Roman"/>
              </a:rPr>
              <a:t>Grover's</a:t>
            </a:r>
            <a:r>
              <a:rPr dirty="0" sz="1800" spc="3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algorithm</a:t>
            </a:r>
            <a:r>
              <a:rPr dirty="0" sz="1800" spc="3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holds</a:t>
            </a:r>
            <a:r>
              <a:rPr dirty="0" sz="1800" spc="3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immense</a:t>
            </a:r>
            <a:r>
              <a:rPr dirty="0" sz="1800" spc="3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potential</a:t>
            </a:r>
            <a:r>
              <a:rPr dirty="0" sz="1800" spc="3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to</a:t>
            </a:r>
            <a:r>
              <a:rPr dirty="0" sz="1800" spc="3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revolutionize</a:t>
            </a:r>
            <a:r>
              <a:rPr dirty="0" sz="1800" spc="36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data</a:t>
            </a:r>
            <a:r>
              <a:rPr dirty="0" sz="1800" spc="3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lake</a:t>
            </a:r>
            <a:r>
              <a:rPr dirty="0" sz="1800" spc="3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management</a:t>
            </a:r>
            <a:r>
              <a:rPr dirty="0" sz="1800" spc="3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3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analytics </a:t>
            </a:r>
            <a:r>
              <a:rPr dirty="0" sz="1800" b="1">
                <a:latin typeface="Times New Roman"/>
                <a:cs typeface="Times New Roman"/>
              </a:rPr>
              <a:t>by</a:t>
            </a:r>
            <a:r>
              <a:rPr dirty="0" sz="1800" spc="26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enabling</a:t>
            </a:r>
            <a:r>
              <a:rPr dirty="0" sz="1800" spc="28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faster,</a:t>
            </a:r>
            <a:r>
              <a:rPr dirty="0" sz="1800" spc="29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more</a:t>
            </a:r>
            <a:r>
              <a:rPr dirty="0" sz="1800" spc="27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efficient,</a:t>
            </a:r>
            <a:r>
              <a:rPr dirty="0" sz="1800" spc="254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28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accurate</a:t>
            </a:r>
            <a:r>
              <a:rPr dirty="0" sz="1800" spc="27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data</a:t>
            </a:r>
            <a:r>
              <a:rPr dirty="0" sz="1800" spc="28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retrieval.</a:t>
            </a:r>
            <a:endParaRPr sz="1800">
              <a:latin typeface="Times New Roman"/>
              <a:cs typeface="Times New Roman"/>
            </a:endParaRPr>
          </a:p>
          <a:p>
            <a:pPr marL="241300" marR="768985" indent="-229235">
              <a:lnSpc>
                <a:spcPts val="1939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800" b="1">
                <a:latin typeface="Times New Roman"/>
                <a:cs typeface="Times New Roman"/>
              </a:rPr>
              <a:t>Its</a:t>
            </a:r>
            <a:r>
              <a:rPr dirty="0" sz="1800" spc="29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ability</a:t>
            </a:r>
            <a:r>
              <a:rPr dirty="0" sz="1800" spc="28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to</a:t>
            </a:r>
            <a:r>
              <a:rPr dirty="0" sz="1800" spc="28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handle</a:t>
            </a:r>
            <a:r>
              <a:rPr dirty="0" sz="1800" spc="3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large</a:t>
            </a:r>
            <a:r>
              <a:rPr dirty="0" sz="1800" spc="29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datasets</a:t>
            </a:r>
            <a:r>
              <a:rPr dirty="0" sz="1800" spc="30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30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diverse</a:t>
            </a:r>
            <a:r>
              <a:rPr dirty="0" sz="1800" spc="29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data</a:t>
            </a:r>
            <a:r>
              <a:rPr dirty="0" sz="1800" spc="3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types</a:t>
            </a:r>
            <a:r>
              <a:rPr dirty="0" sz="1800" spc="28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can</a:t>
            </a:r>
            <a:r>
              <a:rPr dirty="0" sz="1800" spc="28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significantly</a:t>
            </a:r>
            <a:r>
              <a:rPr dirty="0" sz="1800" spc="30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improve</a:t>
            </a:r>
            <a:r>
              <a:rPr dirty="0" sz="1800" spc="29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search </a:t>
            </a:r>
            <a:r>
              <a:rPr dirty="0" sz="1800" b="1">
                <a:latin typeface="Times New Roman"/>
                <a:cs typeface="Times New Roman"/>
              </a:rPr>
              <a:t>efficiency,</a:t>
            </a:r>
            <a:r>
              <a:rPr dirty="0" sz="1800" spc="26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leading</a:t>
            </a:r>
            <a:r>
              <a:rPr dirty="0" sz="1800" spc="3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to</a:t>
            </a:r>
            <a:r>
              <a:rPr dirty="0" sz="1800" spc="29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quicker</a:t>
            </a:r>
            <a:r>
              <a:rPr dirty="0" sz="1800" spc="2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access</a:t>
            </a:r>
            <a:r>
              <a:rPr dirty="0" sz="1800" spc="30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to</a:t>
            </a:r>
            <a:r>
              <a:rPr dirty="0" sz="1800" spc="29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valuable</a:t>
            </a:r>
            <a:r>
              <a:rPr dirty="0" sz="1800" spc="29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insights</a:t>
            </a:r>
            <a:r>
              <a:rPr dirty="0" sz="1800" spc="3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from</a:t>
            </a:r>
            <a:r>
              <a:rPr dirty="0" sz="1800" spc="29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data</a:t>
            </a:r>
            <a:r>
              <a:rPr dirty="0" sz="1800" spc="31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lakes.</a:t>
            </a:r>
            <a:endParaRPr sz="1800">
              <a:latin typeface="Times New Roman"/>
              <a:cs typeface="Times New Roman"/>
            </a:endParaRPr>
          </a:p>
          <a:p>
            <a:pPr marL="241300" marR="516255" indent="-229235">
              <a:lnSpc>
                <a:spcPts val="1939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800" b="1">
                <a:latin typeface="Times New Roman"/>
                <a:cs typeface="Times New Roman"/>
              </a:rPr>
              <a:t>As</a:t>
            </a:r>
            <a:r>
              <a:rPr dirty="0" sz="1800" spc="3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quantum</a:t>
            </a:r>
            <a:r>
              <a:rPr dirty="0" sz="1800" spc="3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computing</a:t>
            </a:r>
            <a:r>
              <a:rPr dirty="0" sz="1800" spc="3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technology</a:t>
            </a:r>
            <a:r>
              <a:rPr dirty="0" sz="1800" spc="3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matures,</a:t>
            </a:r>
            <a:r>
              <a:rPr dirty="0" sz="1800" spc="3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Grover's</a:t>
            </a:r>
            <a:r>
              <a:rPr dirty="0" sz="1800" spc="30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algorithm</a:t>
            </a:r>
            <a:r>
              <a:rPr dirty="0" sz="1800" spc="3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is</a:t>
            </a:r>
            <a:r>
              <a:rPr dirty="0" sz="1800" spc="30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expected</a:t>
            </a:r>
            <a:r>
              <a:rPr dirty="0" sz="1800" spc="30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to</a:t>
            </a:r>
            <a:r>
              <a:rPr dirty="0" sz="1800" spc="30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play</a:t>
            </a:r>
            <a:r>
              <a:rPr dirty="0" sz="1800" spc="305" b="1">
                <a:latin typeface="Times New Roman"/>
                <a:cs typeface="Times New Roman"/>
              </a:rPr>
              <a:t> </a:t>
            </a:r>
            <a:r>
              <a:rPr dirty="0" sz="1800" spc="-50" b="1">
                <a:latin typeface="Times New Roman"/>
                <a:cs typeface="Times New Roman"/>
              </a:rPr>
              <a:t>a </a:t>
            </a:r>
            <a:r>
              <a:rPr dirty="0" sz="1800" b="1">
                <a:latin typeface="Times New Roman"/>
                <a:cs typeface="Times New Roman"/>
              </a:rPr>
              <a:t>transformative</a:t>
            </a:r>
            <a:r>
              <a:rPr dirty="0" sz="1800" spc="37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role</a:t>
            </a:r>
            <a:r>
              <a:rPr dirty="0" sz="1800" spc="3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in</a:t>
            </a:r>
            <a:r>
              <a:rPr dirty="0" sz="1800" spc="3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data</a:t>
            </a:r>
            <a:r>
              <a:rPr dirty="0" sz="1800" spc="36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lake</a:t>
            </a:r>
            <a:r>
              <a:rPr dirty="0" sz="1800" spc="3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optimization,</a:t>
            </a:r>
            <a:r>
              <a:rPr dirty="0" sz="1800" spc="38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empowering</a:t>
            </a:r>
            <a:r>
              <a:rPr dirty="0" sz="1800" spc="330" b="1">
                <a:latin typeface="Times New Roman"/>
                <a:cs typeface="Times New Roman"/>
              </a:rPr>
              <a:t> </a:t>
            </a:r>
            <a:r>
              <a:rPr dirty="0" sz="1800" spc="60" b="1">
                <a:latin typeface="Times New Roman"/>
                <a:cs typeface="Times New Roman"/>
              </a:rPr>
              <a:t>data-</a:t>
            </a:r>
            <a:r>
              <a:rPr dirty="0" sz="1800" b="1">
                <a:latin typeface="Times New Roman"/>
                <a:cs typeface="Times New Roman"/>
              </a:rPr>
              <a:t>driven</a:t>
            </a:r>
            <a:r>
              <a:rPr dirty="0" sz="1800" spc="370" b="1">
                <a:latin typeface="Times New Roman"/>
                <a:cs typeface="Times New Roman"/>
              </a:rPr>
              <a:t> </a:t>
            </a:r>
            <a:r>
              <a:rPr dirty="0" sz="1800" spc="45" b="1">
                <a:latin typeface="Times New Roman"/>
                <a:cs typeface="Times New Roman"/>
              </a:rPr>
              <a:t>decision-</a:t>
            </a:r>
            <a:r>
              <a:rPr dirty="0" sz="1800" b="1">
                <a:latin typeface="Times New Roman"/>
                <a:cs typeface="Times New Roman"/>
              </a:rPr>
              <a:t>making</a:t>
            </a:r>
            <a:r>
              <a:rPr dirty="0" sz="1800" spc="375" b="1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Times New Roman"/>
                <a:cs typeface="Times New Roman"/>
              </a:rPr>
              <a:t>and </a:t>
            </a:r>
            <a:r>
              <a:rPr dirty="0" sz="1800" b="1">
                <a:latin typeface="Times New Roman"/>
                <a:cs typeface="Times New Roman"/>
              </a:rPr>
              <a:t>accelerating</a:t>
            </a:r>
            <a:r>
              <a:rPr dirty="0" sz="1800" spc="38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innovation</a:t>
            </a:r>
            <a:r>
              <a:rPr dirty="0" sz="1800" spc="40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in</a:t>
            </a:r>
            <a:r>
              <a:rPr dirty="0" sz="1800" spc="38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various</a:t>
            </a:r>
            <a:r>
              <a:rPr dirty="0" sz="1800" spc="409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fields.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0" name="object 30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19555" y="5372100"/>
            <a:ext cx="4484370" cy="4808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Conclusion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916939" y="1726438"/>
            <a:ext cx="10233660" cy="3510279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1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 b="1">
                <a:latin typeface="Times New Roman"/>
                <a:cs typeface="Times New Roman"/>
              </a:rPr>
              <a:t>Summary</a:t>
            </a:r>
            <a:r>
              <a:rPr dirty="0" sz="1500" spc="-1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of</a:t>
            </a:r>
            <a:r>
              <a:rPr dirty="0" sz="1500" spc="-15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Grover's</a:t>
            </a:r>
            <a:r>
              <a:rPr dirty="0" sz="1500" spc="-9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Algorithm</a:t>
            </a:r>
            <a:r>
              <a:rPr dirty="0" sz="1500" spc="-5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and</a:t>
            </a:r>
            <a:r>
              <a:rPr dirty="0" sz="1500" spc="-1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Its</a:t>
            </a:r>
            <a:r>
              <a:rPr dirty="0" sz="1500" spc="-35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Significance:</a:t>
            </a:r>
            <a:r>
              <a:rPr dirty="0" sz="1500" spc="-12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A</a:t>
            </a:r>
            <a:r>
              <a:rPr dirty="0" sz="1500" spc="-9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Powerful</a:t>
            </a:r>
            <a:r>
              <a:rPr dirty="0" sz="1500" spc="-65" b="1">
                <a:latin typeface="Times New Roman"/>
                <a:cs typeface="Times New Roman"/>
              </a:rPr>
              <a:t> </a:t>
            </a:r>
            <a:r>
              <a:rPr dirty="0" sz="1500" spc="-25" b="1">
                <a:latin typeface="Times New Roman"/>
                <a:cs typeface="Times New Roman"/>
              </a:rPr>
              <a:t>Tool</a:t>
            </a:r>
            <a:r>
              <a:rPr dirty="0" sz="1500" spc="-4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for</a:t>
            </a:r>
            <a:r>
              <a:rPr dirty="0" sz="1500" spc="-6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Data</a:t>
            </a:r>
            <a:r>
              <a:rPr dirty="0" sz="1500" spc="-2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Lake</a:t>
            </a:r>
            <a:r>
              <a:rPr dirty="0" sz="1500" spc="-10" b="1">
                <a:latin typeface="Times New Roman"/>
                <a:cs typeface="Times New Roman"/>
              </a:rPr>
              <a:t> Optimization</a:t>
            </a:r>
            <a:endParaRPr sz="15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81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>
                <a:latin typeface="Times New Roman"/>
                <a:cs typeface="Times New Roman"/>
              </a:rPr>
              <a:t>Grover's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algorithm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is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powerful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quantum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search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algorithm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that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offers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significant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advantages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for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lake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optimization.</a:t>
            </a:r>
            <a:endParaRPr sz="15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81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>
                <a:latin typeface="Times New Roman"/>
                <a:cs typeface="Times New Roman"/>
              </a:rPr>
              <a:t>It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provides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remarkable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search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efficiency,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reduced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computational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overhead,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versatility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for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diverse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types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search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queries.</a:t>
            </a:r>
            <a:endParaRPr sz="1500">
              <a:latin typeface="Times New Roman"/>
              <a:cs typeface="Times New Roman"/>
            </a:endParaRPr>
          </a:p>
          <a:p>
            <a:pPr marL="241300" marR="71120" indent="-229235">
              <a:lnSpc>
                <a:spcPts val="162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>
                <a:latin typeface="Times New Roman"/>
                <a:cs typeface="Times New Roman"/>
              </a:rPr>
              <a:t>Grover's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algorithm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has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potential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revolutionize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retrieval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analysis,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making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it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valuable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tool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for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data-driven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decision- </a:t>
            </a:r>
            <a:r>
              <a:rPr dirty="0" sz="1500">
                <a:latin typeface="Times New Roman"/>
                <a:cs typeface="Times New Roman"/>
              </a:rPr>
              <a:t>making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various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industries.</a:t>
            </a:r>
            <a:endParaRPr sz="15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 b="1">
                <a:latin typeface="Times New Roman"/>
                <a:cs typeface="Times New Roman"/>
              </a:rPr>
              <a:t>Emphasis</a:t>
            </a:r>
            <a:r>
              <a:rPr dirty="0" sz="1500" spc="-3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on</a:t>
            </a:r>
            <a:r>
              <a:rPr dirty="0" sz="1500" spc="-2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the</a:t>
            </a:r>
            <a:r>
              <a:rPr dirty="0" sz="1500" spc="-3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Future</a:t>
            </a:r>
            <a:r>
              <a:rPr dirty="0" sz="1500" spc="-4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Potential</a:t>
            </a:r>
            <a:r>
              <a:rPr dirty="0" sz="1500" spc="-4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of</a:t>
            </a:r>
            <a:r>
              <a:rPr dirty="0" sz="1500" spc="-4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Quantum</a:t>
            </a:r>
            <a:r>
              <a:rPr dirty="0" sz="1500" spc="-40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Computing:</a:t>
            </a:r>
            <a:r>
              <a:rPr dirty="0" sz="1500" spc="-8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A</a:t>
            </a:r>
            <a:r>
              <a:rPr dirty="0" sz="1500" spc="-9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Paradigm</a:t>
            </a:r>
            <a:r>
              <a:rPr dirty="0" sz="1500" spc="-5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Shift</a:t>
            </a:r>
            <a:r>
              <a:rPr dirty="0" sz="1500" spc="-3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in</a:t>
            </a:r>
            <a:r>
              <a:rPr dirty="0" sz="1500" spc="-3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Data</a:t>
            </a:r>
            <a:r>
              <a:rPr dirty="0" sz="1500" spc="-25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Management</a:t>
            </a:r>
            <a:endParaRPr sz="1500">
              <a:latin typeface="Times New Roman"/>
              <a:cs typeface="Times New Roman"/>
            </a:endParaRPr>
          </a:p>
          <a:p>
            <a:pPr marL="241300" marR="42545" indent="-229235">
              <a:lnSpc>
                <a:spcPts val="1620"/>
              </a:lnSpc>
              <a:spcBef>
                <a:spcPts val="102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>
                <a:latin typeface="Times New Roman"/>
                <a:cs typeface="Times New Roman"/>
              </a:rPr>
              <a:t>Quantum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computing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holds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immense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promise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for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transforming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management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analysis,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with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Grover's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algorithm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serving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as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 spc="-50">
                <a:latin typeface="Times New Roman"/>
                <a:cs typeface="Times New Roman"/>
              </a:rPr>
              <a:t>a </a:t>
            </a:r>
            <a:r>
              <a:rPr dirty="0" sz="1500">
                <a:latin typeface="Times New Roman"/>
                <a:cs typeface="Times New Roman"/>
              </a:rPr>
              <a:t>stepping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stone.</a:t>
            </a:r>
            <a:endParaRPr sz="1500">
              <a:latin typeface="Times New Roman"/>
              <a:cs typeface="Times New Roman"/>
            </a:endParaRPr>
          </a:p>
          <a:p>
            <a:pPr marL="241300" indent="-228600">
              <a:lnSpc>
                <a:spcPts val="1710"/>
              </a:lnSpc>
              <a:spcBef>
                <a:spcPts val="8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>
                <a:latin typeface="Times New Roman"/>
                <a:cs typeface="Times New Roman"/>
              </a:rPr>
              <a:t>As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quantum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hardware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matures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quantum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algorithms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continue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evolve,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we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can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expect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see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even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more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significant</a:t>
            </a:r>
            <a:endParaRPr sz="1500">
              <a:latin typeface="Times New Roman"/>
              <a:cs typeface="Times New Roman"/>
            </a:endParaRPr>
          </a:p>
          <a:p>
            <a:pPr marL="241300">
              <a:lnSpc>
                <a:spcPts val="1710"/>
              </a:lnSpc>
            </a:pPr>
            <a:r>
              <a:rPr dirty="0" sz="1500">
                <a:latin typeface="Times New Roman"/>
                <a:cs typeface="Times New Roman"/>
              </a:rPr>
              <a:t>advancements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lake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optimization.</a:t>
            </a:r>
            <a:endParaRPr sz="1500">
              <a:latin typeface="Times New Roman"/>
              <a:cs typeface="Times New Roman"/>
            </a:endParaRPr>
          </a:p>
          <a:p>
            <a:pPr marL="241300" marR="332105" indent="-229235">
              <a:lnSpc>
                <a:spcPts val="162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future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management is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intertwined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with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development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quantum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computing,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Grover's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algorithm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stands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as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 spc="-50">
                <a:latin typeface="Times New Roman"/>
                <a:cs typeface="Times New Roman"/>
              </a:rPr>
              <a:t>a </a:t>
            </a:r>
            <a:r>
              <a:rPr dirty="0" sz="1500">
                <a:latin typeface="Times New Roman"/>
                <a:cs typeface="Times New Roman"/>
              </a:rPr>
              <a:t>testament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transformative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potential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this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emerging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technology.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sriram rampelli</dc:creator>
  <dc:title>Grover's Algorithm for Data Lake Optimization Queries</dc:title>
  <dcterms:created xsi:type="dcterms:W3CDTF">2025-02-16T03:34:16Z</dcterms:created>
  <dcterms:modified xsi:type="dcterms:W3CDTF">2025-02-16T03:34:16Z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2025-02-16T00:00:00Z</vt:filetime>
  </property>
  <property fmtid="{D5CDD505-2E9C-101B-9397-08002B2CF9AE}" pid="5" name="Producer">
    <vt:lpwstr>Adobe PDF Services</vt:lpwstr>
  </property>
</Properties>
</file>